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566738"/>
            <a:ext cx="323842" cy="28575"/>
          </a:xfrm>
          <a:prstGeom prst="ellipse">
            <a:avLst/>
          </a:prstGeom>
          <a:solidFill>
            <a:srgbClr val="E5A84B"/>
          </a:solidFill>
          <a:ln/>
        </p:spPr>
      </p:sp>
      <p:sp>
        <p:nvSpPr>
          <p:cNvPr id="3" name="Text 1"/>
          <p:cNvSpPr/>
          <p:nvPr/>
        </p:nvSpPr>
        <p:spPr>
          <a:xfrm>
            <a:off x="1123922" y="518220"/>
            <a:ext cx="1553727" cy="1256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spc="100" kern="0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783" y="1822847"/>
            <a:ext cx="5048124" cy="11093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85783" y="3103662"/>
            <a:ext cx="4952876" cy="6191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the system around an AI coding agent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85783" y="3951387"/>
            <a:ext cx="457189" cy="38100"/>
          </a:xfrm>
          <a:prstGeom prst="ellipse">
            <a:avLst/>
          </a:prstGeom>
          <a:solidFill>
            <a:srgbClr val="E5A84B"/>
          </a:solidFill>
          <a:ln/>
        </p:spPr>
      </p:sp>
      <p:sp>
        <p:nvSpPr>
          <p:cNvPr id="7" name="Text 5"/>
          <p:cNvSpPr/>
          <p:nvPr/>
        </p:nvSpPr>
        <p:spPr>
          <a:xfrm>
            <a:off x="685783" y="4208562"/>
            <a:ext cx="1038497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idea: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5803" y="4846737"/>
            <a:ext cx="5354702" cy="2132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“ask the model to code” to a controlled engineering workflow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5803" y="5145732"/>
            <a:ext cx="5354702" cy="2132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reliability, verification, and safe iteration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73892" y="1850827"/>
            <a:ext cx="4732021" cy="3518297"/>
          </a:xfrm>
          <a:prstGeom prst="roundRect">
            <a:avLst>
              <a:gd name="adj" fmla="val 844"/>
            </a:avLst>
          </a:prstGeom>
          <a:solidFill>
            <a:srgbClr val="FFFFFF">
              <a:alpha val="66000"/>
            </a:srgbClr>
          </a:solidFill>
          <a:ln w="12700">
            <a:solidFill>
              <a:srgbClr val="17324D"/>
            </a:solidFill>
            <a:prstDash val="solid"/>
          </a:ln>
          <a:effectLst>
            <a:outerShdw sx="100000" sy="100000" kx="0" ky="0" algn="bl" rotWithShape="0" blurRad="279400" dist="76200" dir="16200000">
              <a:srgbClr val="000000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12011" y="2108002"/>
            <a:ext cx="4255783" cy="1256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b="1" spc="100" kern="0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SYSTEM BUILT AROUND THE AGENT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12011" y="2443163"/>
            <a:ext cx="1342396" cy="66675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lIns="114297" tIns="114297" rIns="114297" bIns="114297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context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925397" y="2443163"/>
            <a:ext cx="1342396" cy="66675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lIns="114297" tIns="114297" rIns="114297" bIns="114297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permissions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68704" y="3262312"/>
            <a:ext cx="1342396" cy="723900"/>
          </a:xfrm>
          <a:prstGeom prst="rect">
            <a:avLst/>
          </a:prstGeom>
          <a:solidFill>
            <a:srgbClr val="EAF2F6"/>
          </a:solidFill>
          <a:ln/>
        </p:spPr>
        <p:txBody>
          <a:bodyPr wrap="square" lIns="114297" tIns="114297" rIns="114297" bIns="114297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agent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12011" y="4138612"/>
            <a:ext cx="1342396" cy="66675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lIns="114297" tIns="114297" rIns="114297" bIns="114297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&amp; checks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925397" y="4138612"/>
            <a:ext cx="1342396" cy="66675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lIns="114297" tIns="114297" rIns="114297" bIns="114297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12011" y="3519487"/>
            <a:ext cx="1342396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9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925397" y="3519487"/>
            <a:ext cx="1342396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9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↙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12011" y="3786188"/>
            <a:ext cx="1342396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5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925397" y="3786188"/>
            <a:ext cx="1342396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5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↖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12011" y="4995862"/>
            <a:ext cx="4255783" cy="154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B6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arrows highlight feedback into the workflow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1277318" y="247650"/>
            <a:ext cx="228594" cy="228600"/>
          </a:xfrm>
          <a:prstGeom prst="roundRect">
            <a:avLst>
              <a:gd name="adj" fmla="val 100003"/>
            </a:avLst>
          </a:prstGeom>
          <a:noFill/>
          <a:ln w="12700">
            <a:solidFill>
              <a:srgbClr val="2F6B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201120" y="6524625"/>
            <a:ext cx="304792" cy="104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566738"/>
            <a:ext cx="323842" cy="28575"/>
          </a:xfrm>
          <a:prstGeom prst="ellipse">
            <a:avLst/>
          </a:prstGeom>
          <a:solidFill>
            <a:srgbClr val="E5A84B"/>
          </a:solidFill>
          <a:ln/>
        </p:spPr>
      </p:sp>
      <p:sp>
        <p:nvSpPr>
          <p:cNvPr id="3" name="Text 1"/>
          <p:cNvSpPr/>
          <p:nvPr/>
        </p:nvSpPr>
        <p:spPr>
          <a:xfrm>
            <a:off x="1123922" y="518220"/>
            <a:ext cx="1553727" cy="1256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spc="100" kern="0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783" y="876300"/>
            <a:ext cx="10820129" cy="3839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related ideas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85783" y="1450777"/>
            <a:ext cx="3479663" cy="3868192"/>
          </a:xfrm>
          <a:prstGeom prst="roundRect">
            <a:avLst>
              <a:gd name="adj" fmla="val 647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902" y="1688902"/>
            <a:ext cx="3003425" cy="1256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spc="100" kern="0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ACTIVITY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23902" y="1947862"/>
            <a:ext cx="3003425" cy="2399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3902" y="2321123"/>
            <a:ext cx="3003425" cy="67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8000"/>
              </a:lnSpc>
              <a:buNone/>
            </a:pPr>
            <a:r>
              <a:rPr lang="en-US" sz="12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agent carries out software tasks—such as editing files or running tests—with some autonomy.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23902" y="4471243"/>
            <a:ext cx="3003425" cy="647700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923902" y="4471243"/>
            <a:ext cx="3003425" cy="9525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11" name="Text 9"/>
          <p:cNvSpPr/>
          <p:nvPr/>
        </p:nvSpPr>
        <p:spPr>
          <a:xfrm>
            <a:off x="923902" y="4647456"/>
            <a:ext cx="419090" cy="419100"/>
          </a:xfrm>
          <a:prstGeom prst="rect">
            <a:avLst/>
          </a:prstGeom>
          <a:solidFill>
            <a:srgbClr val="F4F8FA"/>
          </a:solidFill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57289" y="4720828"/>
            <a:ext cx="1422464" cy="2723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spc="100" kern="0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THE WORK BEING DONE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55941" y="1450777"/>
            <a:ext cx="3479663" cy="3868192"/>
          </a:xfrm>
          <a:prstGeom prst="roundRect">
            <a:avLst>
              <a:gd name="adj" fmla="val 647"/>
            </a:avLst>
          </a:prstGeom>
          <a:solidFill>
            <a:srgbClr val="FFFFFF">
              <a:alpha val="82000"/>
            </a:srgbClr>
          </a:solidFill>
          <a:ln w="25400">
            <a:solidFill>
              <a:srgbClr val="E5A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4061" y="1688902"/>
            <a:ext cx="3003425" cy="1256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spc="100" kern="0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CONTROL LAYER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94061" y="1947862"/>
            <a:ext cx="3003425" cy="2399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94061" y="2321123"/>
            <a:ext cx="3003425" cy="67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8000"/>
              </a:lnSpc>
              <a:buNone/>
            </a:pPr>
            <a:r>
              <a:rPr lang="en-US" sz="12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the environment and controls that make agent work observable, bounded, and verifiable.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94061" y="4471243"/>
            <a:ext cx="3003425" cy="647700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4594061" y="4471243"/>
            <a:ext cx="3003425" cy="9525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19" name="Text 17"/>
          <p:cNvSpPr/>
          <p:nvPr/>
        </p:nvSpPr>
        <p:spPr>
          <a:xfrm>
            <a:off x="4594061" y="4647456"/>
            <a:ext cx="419090" cy="419100"/>
          </a:xfrm>
          <a:prstGeom prst="rect">
            <a:avLst/>
          </a:prstGeom>
          <a:solidFill>
            <a:srgbClr val="F4F8FA"/>
          </a:solidFill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7447" y="4720828"/>
            <a:ext cx="1515032" cy="2723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spc="100" kern="0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LOOP GUIDE, CHECK, RESPOND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026100" y="1450777"/>
            <a:ext cx="3479812" cy="3868192"/>
          </a:xfrm>
          <a:prstGeom prst="roundRect">
            <a:avLst>
              <a:gd name="adj" fmla="val 647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64219" y="1688902"/>
            <a:ext cx="3003574" cy="1256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spc="100" kern="0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THE WIDER DISCIPLINE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64219" y="1947862"/>
            <a:ext cx="3003574" cy="2399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engineering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64219" y="2321123"/>
            <a:ext cx="3003574" cy="67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8000"/>
              </a:lnSpc>
              <a:buNone/>
            </a:pPr>
            <a:r>
              <a:rPr lang="en-US" sz="12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Designing, building, evaluating, and operating systems that use agents—including both the agent and its harness.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64219" y="4471243"/>
            <a:ext cx="3003574" cy="6477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8264219" y="4471243"/>
            <a:ext cx="3003574" cy="9525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27" name="Text 25"/>
          <p:cNvSpPr/>
          <p:nvPr/>
        </p:nvSpPr>
        <p:spPr>
          <a:xfrm>
            <a:off x="8264219" y="4647456"/>
            <a:ext cx="419090" cy="419100"/>
          </a:xfrm>
          <a:prstGeom prst="rect">
            <a:avLst/>
          </a:prstGeom>
          <a:solidFill>
            <a:srgbClr val="F4F8FA"/>
          </a:solidFill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797606" y="4720828"/>
            <a:ext cx="1590635" cy="2723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spc="100" kern="0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SYSTEM COMPONENTS IN CONTEXT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85783" y="5509468"/>
            <a:ext cx="10820129" cy="518071"/>
          </a:xfrm>
          <a:prstGeom prst="roundRect">
            <a:avLst>
              <a:gd name="adj" fmla="val 16225"/>
            </a:avLst>
          </a:prstGeom>
          <a:solidFill>
            <a:srgbClr val="17324D">
              <a:alpha val="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85783" y="5509468"/>
            <a:ext cx="38099" cy="518071"/>
          </a:xfrm>
          <a:prstGeom prst="rect">
            <a:avLst/>
          </a:prstGeom>
          <a:solidFill>
            <a:srgbClr val="E5A84B"/>
          </a:solidFill>
          <a:ln/>
        </p:spPr>
      </p:sp>
      <p:sp>
        <p:nvSpPr>
          <p:cNvPr id="31" name="Text 29"/>
          <p:cNvSpPr/>
          <p:nvPr/>
        </p:nvSpPr>
        <p:spPr>
          <a:xfrm>
            <a:off x="933427" y="5705624"/>
            <a:ext cx="601251" cy="1256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spc="100" kern="0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SHORT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725172" y="5661868"/>
            <a:ext cx="8934673" cy="2132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coding is an activity; harness engineering is a system-design concern; agentic engineering is the broader practice.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783" y="6218039"/>
            <a:ext cx="10820129" cy="1256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26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may use these terms differently; boundaries are not universal.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1277318" y="247650"/>
            <a:ext cx="228594" cy="228600"/>
          </a:xfrm>
          <a:prstGeom prst="roundRect">
            <a:avLst>
              <a:gd name="adj" fmla="val 100003"/>
            </a:avLst>
          </a:prstGeom>
          <a:noFill/>
          <a:ln w="12700">
            <a:solidFill>
              <a:srgbClr val="2F6B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201120" y="6524625"/>
            <a:ext cx="304792" cy="104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566738"/>
            <a:ext cx="323842" cy="28575"/>
          </a:xfrm>
          <a:prstGeom prst="ellipse">
            <a:avLst/>
          </a:prstGeom>
          <a:solidFill>
            <a:srgbClr val="E5A84B"/>
          </a:solidFill>
          <a:ln/>
        </p:spPr>
      </p:sp>
      <p:sp>
        <p:nvSpPr>
          <p:cNvPr id="3" name="Text 1"/>
          <p:cNvSpPr/>
          <p:nvPr/>
        </p:nvSpPr>
        <p:spPr>
          <a:xfrm>
            <a:off x="1123922" y="518220"/>
            <a:ext cx="1553727" cy="1256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spc="100" kern="0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783" y="876300"/>
            <a:ext cx="10820129" cy="3626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alone is not reliability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783" y="1391394"/>
            <a:ext cx="380990" cy="38100"/>
          </a:xfrm>
          <a:prstGeom prst="ellipse">
            <a:avLst/>
          </a:prstGeom>
          <a:solidFill>
            <a:srgbClr val="E5A84B"/>
          </a:solidFill>
          <a:ln/>
        </p:spPr>
      </p:sp>
      <p:sp>
        <p:nvSpPr>
          <p:cNvPr id="6" name="Text 4"/>
          <p:cNvSpPr/>
          <p:nvPr/>
        </p:nvSpPr>
        <p:spPr>
          <a:xfrm>
            <a:off x="685783" y="1581894"/>
            <a:ext cx="5276718" cy="419100"/>
          </a:xfrm>
          <a:prstGeom prst="rect">
            <a:avLst/>
          </a:prstGeom>
          <a:noFill/>
          <a:ln/>
        </p:spPr>
        <p:txBody>
          <a:bodyPr wrap="square" lIns="152396" tIns="152396" rIns="152396" bIns="152396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783" y="2077194"/>
            <a:ext cx="5276718" cy="904577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685783" y="2972246"/>
            <a:ext cx="5276718" cy="9525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9" name="Shape 7"/>
          <p:cNvSpPr/>
          <p:nvPr/>
        </p:nvSpPr>
        <p:spPr>
          <a:xfrm>
            <a:off x="895328" y="2477095"/>
            <a:ext cx="95248" cy="95250"/>
          </a:xfrm>
          <a:prstGeom prst="ellipse">
            <a:avLst/>
          </a:prstGeom>
          <a:solidFill>
            <a:srgbClr val="E5A84B"/>
          </a:solidFill>
          <a:ln/>
        </p:spPr>
      </p:sp>
      <p:sp>
        <p:nvSpPr>
          <p:cNvPr id="10" name="Text 8"/>
          <p:cNvSpPr/>
          <p:nvPr/>
        </p:nvSpPr>
        <p:spPr>
          <a:xfrm>
            <a:off x="1162021" y="2425601"/>
            <a:ext cx="4667133" cy="1980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Misses repository conventions or relevant context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783" y="2981771"/>
            <a:ext cx="5276718" cy="904726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685783" y="3876973"/>
            <a:ext cx="5276718" cy="9525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13" name="Shape 11"/>
          <p:cNvSpPr/>
          <p:nvPr/>
        </p:nvSpPr>
        <p:spPr>
          <a:xfrm>
            <a:off x="895328" y="3381673"/>
            <a:ext cx="95248" cy="95250"/>
          </a:xfrm>
          <a:prstGeom prst="ellipse">
            <a:avLst/>
          </a:prstGeom>
          <a:solidFill>
            <a:srgbClr val="E5A84B"/>
          </a:solidFill>
          <a:ln/>
        </p:spPr>
      </p:sp>
      <p:sp>
        <p:nvSpPr>
          <p:cNvPr id="14" name="Text 12"/>
          <p:cNvSpPr/>
          <p:nvPr/>
        </p:nvSpPr>
        <p:spPr>
          <a:xfrm>
            <a:off x="1162021" y="3330327"/>
            <a:ext cx="4667133" cy="1980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a plausible change that breaks other behavior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783" y="3886498"/>
            <a:ext cx="5276718" cy="904726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685783" y="4781699"/>
            <a:ext cx="5276718" cy="9525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17" name="Shape 15"/>
          <p:cNvSpPr/>
          <p:nvPr/>
        </p:nvSpPr>
        <p:spPr>
          <a:xfrm>
            <a:off x="895328" y="4286399"/>
            <a:ext cx="95248" cy="95250"/>
          </a:xfrm>
          <a:prstGeom prst="ellipse">
            <a:avLst/>
          </a:prstGeom>
          <a:solidFill>
            <a:srgbClr val="E5A84B"/>
          </a:solidFill>
          <a:ln/>
        </p:spPr>
      </p:sp>
      <p:sp>
        <p:nvSpPr>
          <p:cNvPr id="18" name="Text 16"/>
          <p:cNvSpPr/>
          <p:nvPr/>
        </p:nvSpPr>
        <p:spPr>
          <a:xfrm>
            <a:off x="1162021" y="4235053"/>
            <a:ext cx="4667133" cy="1980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an unsafe or irrelevant command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5328" y="5191125"/>
            <a:ext cx="95248" cy="95250"/>
          </a:xfrm>
          <a:prstGeom prst="ellipse">
            <a:avLst/>
          </a:prstGeom>
          <a:solidFill>
            <a:srgbClr val="E5A84B"/>
          </a:solidFill>
          <a:ln/>
        </p:spPr>
      </p:sp>
      <p:sp>
        <p:nvSpPr>
          <p:cNvPr id="20" name="Text 18"/>
          <p:cNvSpPr/>
          <p:nvPr/>
        </p:nvSpPr>
        <p:spPr>
          <a:xfrm>
            <a:off x="1162021" y="5139779"/>
            <a:ext cx="4667133" cy="1980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without checking whether the change works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29194" y="1581894"/>
            <a:ext cx="5276718" cy="419100"/>
          </a:xfrm>
          <a:prstGeom prst="rect">
            <a:avLst/>
          </a:prstGeom>
          <a:noFill/>
          <a:ln/>
        </p:spPr>
        <p:txBody>
          <a:bodyPr wrap="square" lIns="152396" tIns="152396" rIns="152396" bIns="152396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response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29194" y="2077194"/>
            <a:ext cx="5276718" cy="904577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229194" y="2972246"/>
            <a:ext cx="5276718" cy="9525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24" name="Shape 22"/>
          <p:cNvSpPr/>
          <p:nvPr/>
        </p:nvSpPr>
        <p:spPr>
          <a:xfrm>
            <a:off x="6443501" y="2481858"/>
            <a:ext cx="85723" cy="85725"/>
          </a:xfrm>
          <a:prstGeom prst="roundRect">
            <a:avLst>
              <a:gd name="adj" fmla="val 237043"/>
            </a:avLst>
          </a:prstGeom>
          <a:solidFill>
            <a:srgbClr val="2F6B8A"/>
          </a:solidFill>
          <a:ln/>
        </p:spPr>
      </p:sp>
      <p:sp>
        <p:nvSpPr>
          <p:cNvPr id="25" name="Text 23"/>
          <p:cNvSpPr/>
          <p:nvPr/>
        </p:nvSpPr>
        <p:spPr>
          <a:xfrm>
            <a:off x="6705432" y="2425601"/>
            <a:ext cx="4667133" cy="1980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relevant context and scoped access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29194" y="2981771"/>
            <a:ext cx="5276718" cy="904726"/>
          </a:xfrm>
          <a:prstGeom prst="rect">
            <a:avLst/>
          </a:prstGeom>
          <a:noFill/>
          <a:ln/>
        </p:spPr>
      </p:sp>
      <p:sp>
        <p:nvSpPr>
          <p:cNvPr id="27" name="Shape 25"/>
          <p:cNvSpPr/>
          <p:nvPr/>
        </p:nvSpPr>
        <p:spPr>
          <a:xfrm>
            <a:off x="6229194" y="3876973"/>
            <a:ext cx="5276718" cy="9525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28" name="Shape 26"/>
          <p:cNvSpPr/>
          <p:nvPr/>
        </p:nvSpPr>
        <p:spPr>
          <a:xfrm>
            <a:off x="6443501" y="3386435"/>
            <a:ext cx="85723" cy="85725"/>
          </a:xfrm>
          <a:prstGeom prst="roundRect">
            <a:avLst>
              <a:gd name="adj" fmla="val 237043"/>
            </a:avLst>
          </a:prstGeom>
          <a:solidFill>
            <a:srgbClr val="2F6B8A"/>
          </a:solidFill>
          <a:ln/>
        </p:spPr>
      </p:sp>
      <p:sp>
        <p:nvSpPr>
          <p:cNvPr id="29" name="Text 27"/>
          <p:cNvSpPr/>
          <p:nvPr/>
        </p:nvSpPr>
        <p:spPr>
          <a:xfrm>
            <a:off x="6705432" y="3330327"/>
            <a:ext cx="4667133" cy="1980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automated tests and show clear feedback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29194" y="3886498"/>
            <a:ext cx="5276718" cy="904726"/>
          </a:xfrm>
          <a:prstGeom prst="rect">
            <a:avLst/>
          </a:prstGeom>
          <a:noFill/>
          <a:ln/>
        </p:spPr>
      </p:sp>
      <p:sp>
        <p:nvSpPr>
          <p:cNvPr id="31" name="Shape 29"/>
          <p:cNvSpPr/>
          <p:nvPr/>
        </p:nvSpPr>
        <p:spPr>
          <a:xfrm>
            <a:off x="6229194" y="4781699"/>
            <a:ext cx="5276718" cy="9525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2" name="Shape 30"/>
          <p:cNvSpPr/>
          <p:nvPr/>
        </p:nvSpPr>
        <p:spPr>
          <a:xfrm>
            <a:off x="6443501" y="4291161"/>
            <a:ext cx="85723" cy="85725"/>
          </a:xfrm>
          <a:prstGeom prst="roundRect">
            <a:avLst>
              <a:gd name="adj" fmla="val 237043"/>
            </a:avLst>
          </a:prstGeom>
          <a:solidFill>
            <a:srgbClr val="2F6B8A"/>
          </a:solidFill>
          <a:ln/>
        </p:spPr>
      </p:sp>
      <p:sp>
        <p:nvSpPr>
          <p:cNvPr id="33" name="Text 31"/>
          <p:cNvSpPr/>
          <p:nvPr/>
        </p:nvSpPr>
        <p:spPr>
          <a:xfrm>
            <a:off x="6705432" y="4235053"/>
            <a:ext cx="4667133" cy="1980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tools and define operating rules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43501" y="5195887"/>
            <a:ext cx="85723" cy="85725"/>
          </a:xfrm>
          <a:prstGeom prst="roundRect">
            <a:avLst>
              <a:gd name="adj" fmla="val 237043"/>
            </a:avLst>
          </a:prstGeom>
          <a:solidFill>
            <a:srgbClr val="2F6B8A"/>
          </a:solidFill>
          <a:ln/>
        </p:spPr>
      </p:sp>
      <p:sp>
        <p:nvSpPr>
          <p:cNvPr id="35" name="Text 33"/>
          <p:cNvSpPr/>
          <p:nvPr/>
        </p:nvSpPr>
        <p:spPr>
          <a:xfrm>
            <a:off x="6705432" y="5139779"/>
            <a:ext cx="4667133" cy="1980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checks and human review for consequential decisions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5783" y="5838825"/>
            <a:ext cx="10820129" cy="504825"/>
          </a:xfrm>
          <a:prstGeom prst="rect">
            <a:avLst/>
          </a:prstGeom>
          <a:solidFill>
            <a:srgbClr val="17324D">
              <a:alpha val="6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85783" y="5838825"/>
            <a:ext cx="38099" cy="504825"/>
          </a:xfrm>
          <a:prstGeom prst="rect">
            <a:avLst/>
          </a:prstGeom>
          <a:solidFill>
            <a:srgbClr val="E5A84B"/>
          </a:solidFill>
          <a:ln/>
        </p:spPr>
      </p:sp>
      <p:sp>
        <p:nvSpPr>
          <p:cNvPr id="38" name="Text 36"/>
          <p:cNvSpPr/>
          <p:nvPr/>
        </p:nvSpPr>
        <p:spPr>
          <a:xfrm>
            <a:off x="914377" y="5981700"/>
            <a:ext cx="5331634" cy="219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harness shapes what the agent can know, do, and prove.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398408" y="6019800"/>
            <a:ext cx="2711729" cy="1428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reduces risk; it does not guarantee correctness.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1277318" y="247650"/>
            <a:ext cx="228594" cy="228600"/>
          </a:xfrm>
          <a:prstGeom prst="roundRect">
            <a:avLst>
              <a:gd name="adj" fmla="val 100003"/>
            </a:avLst>
          </a:prstGeom>
          <a:noFill/>
          <a:ln w="12700">
            <a:solidFill>
              <a:srgbClr val="2F6B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201120" y="6524625"/>
            <a:ext cx="304792" cy="104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566738"/>
            <a:ext cx="323842" cy="28575"/>
          </a:xfrm>
          <a:prstGeom prst="ellipse">
            <a:avLst/>
          </a:prstGeom>
          <a:solidFill>
            <a:srgbClr val="E5A84B"/>
          </a:solidFill>
          <a:ln/>
        </p:spPr>
      </p:sp>
      <p:sp>
        <p:nvSpPr>
          <p:cNvPr id="3" name="Text 1"/>
          <p:cNvSpPr/>
          <p:nvPr/>
        </p:nvSpPr>
        <p:spPr>
          <a:xfrm>
            <a:off x="1123922" y="518220"/>
            <a:ext cx="1553727" cy="1256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spc="100" kern="0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783" y="876300"/>
            <a:ext cx="10820129" cy="3626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 harness has several layers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783" y="1391394"/>
            <a:ext cx="10820129" cy="5238006"/>
          </a:xfrm>
          <a:prstGeom prst="roundRect">
            <a:avLst>
              <a:gd name="adj" fmla="val 381"/>
            </a:avLst>
          </a:prstGeom>
          <a:solidFill>
            <a:srgbClr val="FFFFFF">
              <a:alpha val="48000"/>
            </a:srgbClr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95748" y="1553319"/>
            <a:ext cx="2000200" cy="495300"/>
          </a:xfrm>
          <a:prstGeom prst="rect">
            <a:avLst/>
          </a:prstGeom>
          <a:solidFill>
            <a:srgbClr val="FFF9EE"/>
          </a:solidFill>
          <a:ln/>
        </p:spPr>
        <p:txBody>
          <a:bodyPr wrap="square" lIns="171446" tIns="171446" rIns="171446" bIns="171446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reviewer · approval &amp; direction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85803" y="3114675"/>
            <a:ext cx="4019450" cy="568523"/>
          </a:xfrm>
          <a:prstGeom prst="roundRect">
            <a:avLst>
              <a:gd name="adj" fmla="val 2155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2F6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8674" y="3275112"/>
            <a:ext cx="247644" cy="247650"/>
          </a:xfrm>
          <a:prstGeom prst="rect">
            <a:avLst/>
          </a:prstGeom>
          <a:solidFill>
            <a:srgbClr val="E8F0F4"/>
          </a:solidFill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90615" y="3219450"/>
            <a:ext cx="1823545" cy="1857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&amp; policy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85803" y="3768923"/>
            <a:ext cx="4019450" cy="568523"/>
          </a:xfrm>
          <a:prstGeom prst="roundRect">
            <a:avLst>
              <a:gd name="adj" fmla="val 2155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2F6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8674" y="3929360"/>
            <a:ext cx="247644" cy="247650"/>
          </a:xfrm>
          <a:prstGeom prst="rect">
            <a:avLst/>
          </a:prstGeom>
          <a:solidFill>
            <a:srgbClr val="E8F0F4"/>
          </a:solidFill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90615" y="3873698"/>
            <a:ext cx="1731870" cy="1857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5803" y="4423172"/>
            <a:ext cx="4019450" cy="568523"/>
          </a:xfrm>
          <a:prstGeom prst="roundRect">
            <a:avLst>
              <a:gd name="adj" fmla="val 2155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2F6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8674" y="4583609"/>
            <a:ext cx="247644" cy="247650"/>
          </a:xfrm>
          <a:prstGeom prst="rect">
            <a:avLst/>
          </a:prstGeom>
          <a:solidFill>
            <a:srgbClr val="E8F0F4"/>
          </a:solidFill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90615" y="4527947"/>
            <a:ext cx="2193821" cy="1857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08140" y="2954238"/>
            <a:ext cx="1175415" cy="154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approval / feedback ↓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19590" y="3222724"/>
            <a:ext cx="1352516" cy="1352550"/>
          </a:xfrm>
          <a:prstGeom prst="roundRect">
            <a:avLst>
              <a:gd name="adj" fmla="val 23805"/>
            </a:avLst>
          </a:prstGeom>
          <a:solidFill>
            <a:srgbClr val="E9F2F6"/>
          </a:solidFill>
          <a:ln w="25400">
            <a:solidFill>
              <a:srgbClr val="2F6B8A"/>
            </a:solidFill>
            <a:prstDash val="solid"/>
          </a:ln>
          <a:effectLst>
            <a:outerShdw sx="100000" sy="100000" kx="0" ky="0" algn="bl" rotWithShape="0" blurRad="177800" dist="50800" dir="16200000">
              <a:srgbClr val="000000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25880" y="3698974"/>
            <a:ext cx="539786" cy="219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727210" y="3965674"/>
            <a:ext cx="737127" cy="133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and acts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04558" y="4699099"/>
            <a:ext cx="1382579" cy="133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within the harness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86443" y="3114675"/>
            <a:ext cx="4019450" cy="568523"/>
          </a:xfrm>
          <a:prstGeom prst="roundRect">
            <a:avLst>
              <a:gd name="adj" fmla="val 2155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2F6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29314" y="3275112"/>
            <a:ext cx="247644" cy="247650"/>
          </a:xfrm>
          <a:prstGeom prst="rect">
            <a:avLst/>
          </a:prstGeom>
          <a:solidFill>
            <a:srgbClr val="E8F0F4"/>
          </a:solidFill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91255" y="3219450"/>
            <a:ext cx="2490130" cy="1857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86443" y="3768923"/>
            <a:ext cx="4019450" cy="568523"/>
          </a:xfrm>
          <a:prstGeom prst="roundRect">
            <a:avLst>
              <a:gd name="adj" fmla="val 2155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2F6B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29314" y="3929360"/>
            <a:ext cx="247644" cy="247650"/>
          </a:xfrm>
          <a:prstGeom prst="rect">
            <a:avLst/>
          </a:prstGeom>
          <a:solidFill>
            <a:srgbClr val="E8F0F4"/>
          </a:solidFill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91255" y="3873698"/>
            <a:ext cx="2045294" cy="1857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86443" y="4423172"/>
            <a:ext cx="4019450" cy="568523"/>
          </a:xfrm>
          <a:prstGeom prst="roundRect">
            <a:avLst>
              <a:gd name="adj" fmla="val 2155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2F6B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29314" y="4583609"/>
            <a:ext cx="247644" cy="247650"/>
          </a:xfrm>
          <a:prstGeom prst="rect">
            <a:avLst/>
          </a:prstGeom>
          <a:solidFill>
            <a:srgbClr val="E8F0F4"/>
          </a:solidFill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91255" y="4527947"/>
            <a:ext cx="1850631" cy="1857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85803" y="6057900"/>
            <a:ext cx="10420089" cy="409575"/>
          </a:xfrm>
          <a:prstGeom prst="rect">
            <a:avLst/>
          </a:prstGeom>
          <a:noFill/>
          <a:ln/>
        </p:spPr>
      </p:sp>
      <p:sp>
        <p:nvSpPr>
          <p:cNvPr id="31" name="Shape 29"/>
          <p:cNvSpPr/>
          <p:nvPr/>
        </p:nvSpPr>
        <p:spPr>
          <a:xfrm>
            <a:off x="885803" y="6057900"/>
            <a:ext cx="10420089" cy="9525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2" name="Text 30"/>
          <p:cNvSpPr/>
          <p:nvPr/>
        </p:nvSpPr>
        <p:spPr>
          <a:xfrm>
            <a:off x="2995984" y="6262688"/>
            <a:ext cx="969740" cy="114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LOOP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137170" y="6172200"/>
            <a:ext cx="781477" cy="295275"/>
          </a:xfrm>
          <a:prstGeom prst="rect">
            <a:avLst/>
          </a:prstGeom>
          <a:solidFill>
            <a:srgbClr val="EAF1F4"/>
          </a:solidFill>
          <a:ln/>
        </p:spPr>
        <p:txBody>
          <a:bodyPr wrap="square" lIns="142871" tIns="142871" rIns="142871" bIns="142871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13894" y="6219825"/>
            <a:ext cx="171446" cy="200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5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80588" y="6172200"/>
            <a:ext cx="547376" cy="295275"/>
          </a:xfrm>
          <a:prstGeom prst="rect">
            <a:avLst/>
          </a:prstGeom>
          <a:solidFill>
            <a:srgbClr val="EAF1F4"/>
          </a:solidFill>
          <a:ln/>
        </p:spPr>
        <p:txBody>
          <a:bodyPr wrap="square" lIns="142871" tIns="142871" rIns="142871" bIns="142871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23211" y="6219825"/>
            <a:ext cx="171446" cy="200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5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189905" y="6172200"/>
            <a:ext cx="485316" cy="295275"/>
          </a:xfrm>
          <a:prstGeom prst="rect">
            <a:avLst/>
          </a:prstGeom>
          <a:solidFill>
            <a:srgbClr val="EAF1F4"/>
          </a:solidFill>
          <a:ln/>
        </p:spPr>
        <p:txBody>
          <a:bodyPr wrap="square" lIns="142871" tIns="142871" rIns="142871" bIns="142871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70469" y="6219825"/>
            <a:ext cx="171446" cy="200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5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037162" y="6172200"/>
            <a:ext cx="657506" cy="295275"/>
          </a:xfrm>
          <a:prstGeom prst="rect">
            <a:avLst/>
          </a:prstGeom>
          <a:solidFill>
            <a:srgbClr val="EAF1F4"/>
          </a:solidFill>
          <a:ln/>
        </p:spPr>
        <p:txBody>
          <a:bodyPr wrap="square" lIns="142871" tIns="142871" rIns="142871" bIns="142871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89916" y="6219825"/>
            <a:ext cx="171446" cy="200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5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056609" y="6172200"/>
            <a:ext cx="1139102" cy="295275"/>
          </a:xfrm>
          <a:prstGeom prst="rect">
            <a:avLst/>
          </a:prstGeom>
          <a:solidFill>
            <a:srgbClr val="EAF1F4"/>
          </a:solidFill>
          <a:ln/>
        </p:spPr>
        <p:txBody>
          <a:bodyPr wrap="square" lIns="142871" tIns="142871" rIns="142871" bIns="142871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 or stop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1277318" y="247650"/>
            <a:ext cx="228594" cy="228600"/>
          </a:xfrm>
          <a:prstGeom prst="roundRect">
            <a:avLst>
              <a:gd name="adj" fmla="val 100003"/>
            </a:avLst>
          </a:prstGeom>
          <a:noFill/>
          <a:ln w="12700">
            <a:solidFill>
              <a:srgbClr val="2F6B8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566738"/>
            <a:ext cx="323842" cy="28575"/>
          </a:xfrm>
          <a:prstGeom prst="ellipse">
            <a:avLst/>
          </a:prstGeom>
          <a:solidFill>
            <a:srgbClr val="E5A84B"/>
          </a:solidFill>
          <a:ln/>
        </p:spPr>
      </p:sp>
      <p:sp>
        <p:nvSpPr>
          <p:cNvPr id="3" name="Text 1"/>
          <p:cNvSpPr/>
          <p:nvPr/>
        </p:nvSpPr>
        <p:spPr>
          <a:xfrm>
            <a:off x="1123922" y="518220"/>
            <a:ext cx="1553727" cy="1256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spc="100" kern="0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783" y="876300"/>
            <a:ext cx="10820129" cy="3626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the agent’s working environment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783" y="1410444"/>
            <a:ext cx="5305292" cy="4276576"/>
          </a:xfrm>
          <a:prstGeom prst="roundRect">
            <a:avLst>
              <a:gd name="adj" fmla="val 381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17324D"/>
            </a:solidFill>
            <a:prstDash val="solid"/>
          </a:ln>
          <a:effectLst>
            <a:outerShdw sx="100000" sy="100000" kx="0" ky="0" algn="bl" rotWithShape="0" blurRad="152400" dist="38100" dir="1620000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04852" y="1610469"/>
            <a:ext cx="228594" cy="228600"/>
          </a:xfrm>
          <a:prstGeom prst="rect">
            <a:avLst/>
          </a:prstGeom>
          <a:solidFill>
            <a:srgbClr val="2F6B8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71526" y="1972419"/>
            <a:ext cx="4733807" cy="409575"/>
          </a:xfrm>
          <a:prstGeom prst="rect">
            <a:avLst/>
          </a:prstGeom>
          <a:solidFill>
            <a:srgbClr val="EDF3F6"/>
          </a:solidFill>
          <a:ln/>
        </p:spPr>
        <p:txBody>
          <a:bodyPr wrap="square" lIns="123822" tIns="123822" rIns="123822" bIns="123822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information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0805" y="2429619"/>
            <a:ext cx="95248" cy="57150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3290805" y="2429619"/>
            <a:ext cx="95248" cy="57150"/>
          </a:xfrm>
          <a:prstGeom prst="rect">
            <a:avLst/>
          </a:prstGeom>
          <a:solidFill>
            <a:srgbClr val="2F6B8A"/>
          </a:solidFill>
          <a:ln/>
        </p:spPr>
      </p:sp>
      <p:sp>
        <p:nvSpPr>
          <p:cNvPr id="10" name="Text 8"/>
          <p:cNvSpPr/>
          <p:nvPr/>
        </p:nvSpPr>
        <p:spPr>
          <a:xfrm>
            <a:off x="1400140" y="2543919"/>
            <a:ext cx="3876578" cy="409575"/>
          </a:xfrm>
          <a:prstGeom prst="rect">
            <a:avLst/>
          </a:prstGeom>
          <a:solidFill>
            <a:srgbClr val="E5EEF2"/>
          </a:solidFill>
          <a:ln/>
        </p:spPr>
        <p:txBody>
          <a:bodyPr wrap="square" lIns="123822" tIns="123822" rIns="123822" bIns="123822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files &amp; conventions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0805" y="3001119"/>
            <a:ext cx="95248" cy="57150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3290805" y="3001119"/>
            <a:ext cx="95248" cy="57150"/>
          </a:xfrm>
          <a:prstGeom prst="rect">
            <a:avLst/>
          </a:prstGeom>
          <a:solidFill>
            <a:srgbClr val="2F6B8A"/>
          </a:solidFill>
          <a:ln/>
        </p:spPr>
      </p:sp>
      <p:sp>
        <p:nvSpPr>
          <p:cNvPr id="13" name="Text 11"/>
          <p:cNvSpPr/>
          <p:nvPr/>
        </p:nvSpPr>
        <p:spPr>
          <a:xfrm>
            <a:off x="971526" y="3115419"/>
            <a:ext cx="4733807" cy="409575"/>
          </a:xfrm>
          <a:prstGeom prst="rect">
            <a:avLst/>
          </a:prstGeom>
          <a:solidFill>
            <a:srgbClr val="EDF3F6"/>
          </a:solidFill>
          <a:ln/>
        </p:spPr>
        <p:txBody>
          <a:bodyPr wrap="square" lIns="123822" tIns="123822" rIns="123822" bIns="123822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constraints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0805" y="3572619"/>
            <a:ext cx="95248" cy="57150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3290805" y="3572619"/>
            <a:ext cx="95248" cy="57150"/>
          </a:xfrm>
          <a:prstGeom prst="rect">
            <a:avLst/>
          </a:prstGeom>
          <a:solidFill>
            <a:srgbClr val="2F6B8A"/>
          </a:solidFill>
          <a:ln/>
        </p:spPr>
      </p:sp>
      <p:sp>
        <p:nvSpPr>
          <p:cNvPr id="16" name="Text 14"/>
          <p:cNvSpPr/>
          <p:nvPr/>
        </p:nvSpPr>
        <p:spPr>
          <a:xfrm>
            <a:off x="971526" y="3686919"/>
            <a:ext cx="4733807" cy="409575"/>
          </a:xfrm>
          <a:prstGeom prst="rect">
            <a:avLst/>
          </a:prstGeom>
          <a:solidFill>
            <a:srgbClr val="EDF3F6"/>
          </a:solidFill>
          <a:ln/>
        </p:spPr>
        <p:txBody>
          <a:bodyPr wrap="square" lIns="123822" tIns="123822" rIns="123822" bIns="123822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Sufficient working context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4852" y="4229844"/>
            <a:ext cx="4867153" cy="3732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0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information that is relevant and current—not simply less information. Make assumptions and unknowns visible.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00620" y="1410444"/>
            <a:ext cx="5305292" cy="4276576"/>
          </a:xfrm>
          <a:prstGeom prst="roundRect">
            <a:avLst>
              <a:gd name="adj" fmla="val 381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17324D"/>
            </a:solidFill>
            <a:prstDash val="solid"/>
          </a:ln>
          <a:effectLst>
            <a:outerShdw sx="100000" sy="100000" kx="0" ky="0" algn="bl" rotWithShape="0" blurRad="152400" dist="38100" dir="16200000">
              <a:srgbClr val="000000">
                <a:alpha val="5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19690" y="1610469"/>
            <a:ext cx="228594" cy="228600"/>
          </a:xfrm>
          <a:prstGeom prst="rect">
            <a:avLst/>
          </a:prstGeom>
          <a:solidFill>
            <a:srgbClr val="2F6B8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19690" y="1972419"/>
            <a:ext cx="4867153" cy="409575"/>
          </a:xfrm>
          <a:prstGeom prst="roundRect">
            <a:avLst>
              <a:gd name="adj" fmla="val 31152"/>
            </a:avLst>
          </a:prstGeom>
          <a:solidFill>
            <a:srgbClr val="FFFFFF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3987" y="2062907"/>
            <a:ext cx="228594" cy="228600"/>
          </a:xfrm>
          <a:prstGeom prst="rect">
            <a:avLst/>
          </a:prstGeom>
          <a:solidFill>
            <a:srgbClr val="E9F0F3"/>
          </a:solidFill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34027" y="2091482"/>
            <a:ext cx="3495141" cy="171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24415" y="2108597"/>
            <a:ext cx="648130" cy="1370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6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code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19690" y="2448669"/>
            <a:ext cx="4867153" cy="409575"/>
          </a:xfrm>
          <a:prstGeom prst="roundRect">
            <a:avLst>
              <a:gd name="adj" fmla="val 31152"/>
            </a:avLst>
          </a:prstGeom>
          <a:solidFill>
            <a:srgbClr val="FFFFFF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3987" y="2539157"/>
            <a:ext cx="228594" cy="228600"/>
          </a:xfrm>
          <a:prstGeom prst="rect">
            <a:avLst/>
          </a:prstGeom>
          <a:solidFill>
            <a:srgbClr val="E9F0F3"/>
          </a:solidFill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34027" y="2567732"/>
            <a:ext cx="3507791" cy="171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37065" y="2584847"/>
            <a:ext cx="635480" cy="1370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6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files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19690" y="2924919"/>
            <a:ext cx="4867153" cy="409575"/>
          </a:xfrm>
          <a:prstGeom prst="roundRect">
            <a:avLst>
              <a:gd name="adj" fmla="val 31152"/>
            </a:avLst>
          </a:prstGeom>
          <a:solidFill>
            <a:srgbClr val="FFFFFF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3987" y="3015407"/>
            <a:ext cx="228594" cy="228600"/>
          </a:xfrm>
          <a:prstGeom prst="rect">
            <a:avLst/>
          </a:prstGeom>
          <a:solidFill>
            <a:srgbClr val="E9F0F3"/>
          </a:solidFill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34027" y="3043982"/>
            <a:ext cx="3546039" cy="171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575313" y="3061097"/>
            <a:ext cx="597232" cy="1370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6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checks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19690" y="3401169"/>
            <a:ext cx="4867153" cy="409575"/>
          </a:xfrm>
          <a:prstGeom prst="roundRect">
            <a:avLst>
              <a:gd name="adj" fmla="val 31152"/>
            </a:avLst>
          </a:prstGeom>
          <a:solidFill>
            <a:srgbClr val="FFFFFF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3987" y="3491657"/>
            <a:ext cx="228594" cy="228600"/>
          </a:xfrm>
          <a:prstGeom prst="rect">
            <a:avLst/>
          </a:prstGeom>
          <a:solidFill>
            <a:srgbClr val="E9F0F3"/>
          </a:solidFill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34027" y="3520232"/>
            <a:ext cx="3381142" cy="171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10416" y="3537347"/>
            <a:ext cx="762130" cy="1370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845B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gate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19690" y="3944094"/>
            <a:ext cx="4867153" cy="3732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0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only the actions needed. Add approval for high-impact steps, including deployment or destructive changes.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5783" y="5858470"/>
            <a:ext cx="10820129" cy="485180"/>
          </a:xfrm>
          <a:prstGeom prst="roundRect">
            <a:avLst>
              <a:gd name="adj" fmla="val 25900"/>
            </a:avLst>
          </a:prstGeom>
          <a:solidFill>
            <a:srgbClr val="FFFFFF">
              <a:alpha val="83000"/>
            </a:srgbClr>
          </a:solidFill>
          <a:ln/>
          <a:effectLst>
            <a:outerShdw sx="100000" sy="100000" kx="0" ky="0" algn="bl" rotWithShape="0" blurRad="152400" dist="38100" dir="16200000">
              <a:srgbClr val="000000">
                <a:alpha val="5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85783" y="5858470"/>
            <a:ext cx="38099" cy="485180"/>
          </a:xfrm>
          <a:prstGeom prst="rect">
            <a:avLst/>
          </a:prstGeom>
          <a:solidFill>
            <a:srgbClr val="E5A84B"/>
          </a:solidFill>
          <a:ln/>
        </p:spPr>
      </p:sp>
      <p:sp>
        <p:nvSpPr>
          <p:cNvPr id="39" name="Text 37"/>
          <p:cNvSpPr/>
          <p:nvPr/>
        </p:nvSpPr>
        <p:spPr>
          <a:xfrm>
            <a:off x="904852" y="6038255"/>
            <a:ext cx="653190" cy="1256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spc="100" kern="0" dirty="0">
                <a:solidFill>
                  <a:srgbClr val="845B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691389" y="5991820"/>
            <a:ext cx="5029967" cy="218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least privilege needed while keeping the workflow useful.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1277318" y="247650"/>
            <a:ext cx="228594" cy="228600"/>
          </a:xfrm>
          <a:prstGeom prst="roundRect">
            <a:avLst>
              <a:gd name="adj" fmla="val 100003"/>
            </a:avLst>
          </a:prstGeom>
          <a:noFill/>
          <a:ln w="12700">
            <a:solidFill>
              <a:srgbClr val="2F6B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201120" y="6524625"/>
            <a:ext cx="304792" cy="104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566738"/>
            <a:ext cx="323842" cy="28575"/>
          </a:xfrm>
          <a:prstGeom prst="ellipse">
            <a:avLst/>
          </a:prstGeom>
          <a:solidFill>
            <a:srgbClr val="E5A84B"/>
          </a:solidFill>
          <a:ln/>
        </p:spPr>
      </p:sp>
      <p:sp>
        <p:nvSpPr>
          <p:cNvPr id="3" name="Text 1"/>
          <p:cNvSpPr/>
          <p:nvPr/>
        </p:nvSpPr>
        <p:spPr>
          <a:xfrm>
            <a:off x="1123922" y="518220"/>
            <a:ext cx="1553727" cy="1256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spc="100" kern="0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783" y="906661"/>
            <a:ext cx="3832228" cy="3839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“done” observable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791255" y="876300"/>
            <a:ext cx="3714657" cy="4143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96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layered checks to evaluate a change—and turn failures into a focused improvement cycle.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783" y="1462088"/>
            <a:ext cx="718926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USEFUL VERIFICATION LADDER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783" y="1681162"/>
            <a:ext cx="7189260" cy="571500"/>
          </a:xfrm>
          <a:prstGeom prst="roundRect">
            <a:avLst>
              <a:gd name="adj" fmla="val 21333"/>
            </a:avLst>
          </a:prstGeom>
          <a:solidFill>
            <a:srgbClr val="FFFFFF">
              <a:alpha val="83000"/>
            </a:srgbClr>
          </a:solidFill>
          <a:ln w="12700">
            <a:solidFill>
              <a:srgbClr val="17324D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7704" y="1795463"/>
            <a:ext cx="342891" cy="342900"/>
          </a:xfrm>
          <a:prstGeom prst="rect">
            <a:avLst/>
          </a:prstGeom>
          <a:solidFill>
            <a:srgbClr val="E7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09665" y="1864072"/>
            <a:ext cx="1100705" cy="205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and lint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05618" y="1892647"/>
            <a:ext cx="1865216" cy="1671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96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style and basic code issues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75003" y="1857375"/>
            <a:ext cx="238119" cy="219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A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0080" y="2338388"/>
            <a:ext cx="7074963" cy="571500"/>
          </a:xfrm>
          <a:prstGeom prst="roundRect">
            <a:avLst>
              <a:gd name="adj" fmla="val 21333"/>
            </a:avLst>
          </a:prstGeom>
          <a:solidFill>
            <a:srgbClr val="FFFFFF">
              <a:alpha val="83000"/>
            </a:srgbClr>
          </a:solidFill>
          <a:ln w="12700">
            <a:solidFill>
              <a:srgbClr val="17324D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2001" y="2452688"/>
            <a:ext cx="342891" cy="342900"/>
          </a:xfrm>
          <a:prstGeom prst="rect">
            <a:avLst/>
          </a:prstGeom>
          <a:solidFill>
            <a:srgbClr val="E7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23962" y="2521297"/>
            <a:ext cx="694415" cy="205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13624" y="2549872"/>
            <a:ext cx="1245660" cy="1671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96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small behaviors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75003" y="2514600"/>
            <a:ext cx="238119" cy="219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A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377" y="2995613"/>
            <a:ext cx="6960666" cy="571500"/>
          </a:xfrm>
          <a:prstGeom prst="roundRect">
            <a:avLst>
              <a:gd name="adj" fmla="val 21333"/>
            </a:avLst>
          </a:prstGeom>
          <a:solidFill>
            <a:srgbClr val="FFFFFF">
              <a:alpha val="83000"/>
            </a:srgbClr>
          </a:solidFill>
          <a:ln w="12700">
            <a:solidFill>
              <a:srgbClr val="17324D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76298" y="3109913"/>
            <a:ext cx="342891" cy="342900"/>
          </a:xfrm>
          <a:prstGeom prst="rect">
            <a:avLst/>
          </a:prstGeom>
          <a:solidFill>
            <a:srgbClr val="E7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38259" y="3178522"/>
            <a:ext cx="1185535" cy="205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tests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19042" y="3207097"/>
            <a:ext cx="2009874" cy="1671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96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components working together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75003" y="3171825"/>
            <a:ext cx="238119" cy="219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A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28674" y="3652838"/>
            <a:ext cx="6846369" cy="571500"/>
          </a:xfrm>
          <a:prstGeom prst="roundRect">
            <a:avLst>
              <a:gd name="adj" fmla="val 21333"/>
            </a:avLst>
          </a:prstGeom>
          <a:solidFill>
            <a:srgbClr val="FFFFFF">
              <a:alpha val="83000"/>
            </a:srgbClr>
          </a:solidFill>
          <a:ln w="12700">
            <a:solidFill>
              <a:srgbClr val="17324D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5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90595" y="3767138"/>
            <a:ext cx="342891" cy="342900"/>
          </a:xfrm>
          <a:prstGeom prst="rect">
            <a:avLst/>
          </a:prstGeom>
          <a:solidFill>
            <a:srgbClr val="E7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52556" y="3835747"/>
            <a:ext cx="1414725" cy="205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checks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62529" y="3864322"/>
            <a:ext cx="2181468" cy="1671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96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results with task requirements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75003" y="3829050"/>
            <a:ext cx="238119" cy="219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A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142971" y="4310063"/>
            <a:ext cx="6732072" cy="571500"/>
          </a:xfrm>
          <a:prstGeom prst="roundRect">
            <a:avLst>
              <a:gd name="adj" fmla="val 21333"/>
            </a:avLst>
          </a:prstGeom>
          <a:solidFill>
            <a:srgbClr val="FFFAF0"/>
          </a:solidFill>
          <a:ln w="12700">
            <a:solidFill>
              <a:srgbClr val="E5A84B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5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304892" y="4424363"/>
            <a:ext cx="342891" cy="342900"/>
          </a:xfrm>
          <a:prstGeom prst="rect">
            <a:avLst/>
          </a:prstGeom>
          <a:solidFill>
            <a:srgbClr val="F8E9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55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866853" y="4492972"/>
            <a:ext cx="1033288" cy="205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995389" y="4521547"/>
            <a:ext cx="2092173" cy="1671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96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intent, risk, and maintainability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75003" y="4481513"/>
            <a:ext cx="238119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A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122687" y="1462088"/>
            <a:ext cx="3383225" cy="4275832"/>
          </a:xfrm>
          <a:prstGeom prst="roundRect">
            <a:avLst>
              <a:gd name="adj" fmla="val 761"/>
            </a:avLst>
          </a:prstGeom>
          <a:solidFill>
            <a:srgbClr val="EAF1F5"/>
          </a:solidFill>
          <a:ln w="12700">
            <a:solidFill>
              <a:srgbClr val="2F6B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2707" y="1652588"/>
            <a:ext cx="2983185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loop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22707" y="1947862"/>
            <a:ext cx="2983185" cy="346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96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failure is useful when it points to the next bounded action.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322707" y="2437209"/>
            <a:ext cx="2983185" cy="390525"/>
          </a:xfrm>
          <a:prstGeom prst="roundRect">
            <a:avLst>
              <a:gd name="adj" fmla="val 34265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417955" y="2522934"/>
            <a:ext cx="219070" cy="219075"/>
          </a:xfrm>
          <a:prstGeom prst="rect">
            <a:avLst/>
          </a:prstGeom>
          <a:solidFill>
            <a:srgbClr val="DCE9EF"/>
          </a:solidFill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32272" y="2551956"/>
            <a:ext cx="1121838" cy="1608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relevant checks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513202" y="2894409"/>
            <a:ext cx="2792690" cy="95250"/>
          </a:xfrm>
          <a:prstGeom prst="rect">
            <a:avLst/>
          </a:prstGeom>
          <a:noFill/>
          <a:ln/>
        </p:spPr>
      </p:sp>
      <p:sp>
        <p:nvSpPr>
          <p:cNvPr id="39" name="Shape 37"/>
          <p:cNvSpPr/>
          <p:nvPr/>
        </p:nvSpPr>
        <p:spPr>
          <a:xfrm>
            <a:off x="8513202" y="2894409"/>
            <a:ext cx="9525" cy="95250"/>
          </a:xfrm>
          <a:prstGeom prst="rect">
            <a:avLst/>
          </a:prstGeom>
          <a:solidFill>
            <a:srgbClr val="84A5B4"/>
          </a:solidFill>
          <a:ln/>
        </p:spPr>
      </p:sp>
      <p:sp>
        <p:nvSpPr>
          <p:cNvPr id="40" name="Shape 38"/>
          <p:cNvSpPr/>
          <p:nvPr/>
        </p:nvSpPr>
        <p:spPr>
          <a:xfrm>
            <a:off x="8322707" y="3056334"/>
            <a:ext cx="2983185" cy="390525"/>
          </a:xfrm>
          <a:prstGeom prst="roundRect">
            <a:avLst>
              <a:gd name="adj" fmla="val 34265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8417955" y="3142059"/>
            <a:ext cx="219070" cy="219075"/>
          </a:xfrm>
          <a:prstGeom prst="rect">
            <a:avLst/>
          </a:prstGeom>
          <a:solidFill>
            <a:srgbClr val="DCE9EF"/>
          </a:solidFill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732272" y="3171081"/>
            <a:ext cx="1163212" cy="1608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failure details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513202" y="3513534"/>
            <a:ext cx="2792690" cy="95250"/>
          </a:xfrm>
          <a:prstGeom prst="rect">
            <a:avLst/>
          </a:prstGeom>
          <a:noFill/>
          <a:ln/>
        </p:spPr>
      </p:sp>
      <p:sp>
        <p:nvSpPr>
          <p:cNvPr id="44" name="Shape 42"/>
          <p:cNvSpPr/>
          <p:nvPr/>
        </p:nvSpPr>
        <p:spPr>
          <a:xfrm>
            <a:off x="8513202" y="3513534"/>
            <a:ext cx="9525" cy="95250"/>
          </a:xfrm>
          <a:prstGeom prst="rect">
            <a:avLst/>
          </a:prstGeom>
          <a:solidFill>
            <a:srgbClr val="84A5B4"/>
          </a:solidFill>
          <a:ln/>
        </p:spPr>
      </p:sp>
      <p:sp>
        <p:nvSpPr>
          <p:cNvPr id="45" name="Shape 43"/>
          <p:cNvSpPr/>
          <p:nvPr/>
        </p:nvSpPr>
        <p:spPr>
          <a:xfrm>
            <a:off x="8322707" y="3675459"/>
            <a:ext cx="2983185" cy="390525"/>
          </a:xfrm>
          <a:prstGeom prst="roundRect">
            <a:avLst>
              <a:gd name="adj" fmla="val 34265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8417955" y="3761184"/>
            <a:ext cx="219070" cy="219075"/>
          </a:xfrm>
          <a:prstGeom prst="rect">
            <a:avLst/>
          </a:prstGeom>
          <a:solidFill>
            <a:srgbClr val="DCE9EF"/>
          </a:solidFill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732272" y="3790206"/>
            <a:ext cx="1080763" cy="1608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 bounded fix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513202" y="4132659"/>
            <a:ext cx="2792690" cy="95250"/>
          </a:xfrm>
          <a:prstGeom prst="rect">
            <a:avLst/>
          </a:prstGeom>
          <a:noFill/>
          <a:ln/>
        </p:spPr>
      </p:sp>
      <p:sp>
        <p:nvSpPr>
          <p:cNvPr id="49" name="Shape 47"/>
          <p:cNvSpPr/>
          <p:nvPr/>
        </p:nvSpPr>
        <p:spPr>
          <a:xfrm>
            <a:off x="8513202" y="4132659"/>
            <a:ext cx="9525" cy="95250"/>
          </a:xfrm>
          <a:prstGeom prst="rect">
            <a:avLst/>
          </a:prstGeom>
          <a:solidFill>
            <a:srgbClr val="84A5B4"/>
          </a:solidFill>
          <a:ln/>
        </p:spPr>
      </p:sp>
      <p:sp>
        <p:nvSpPr>
          <p:cNvPr id="50" name="Shape 48"/>
          <p:cNvSpPr/>
          <p:nvPr/>
        </p:nvSpPr>
        <p:spPr>
          <a:xfrm>
            <a:off x="8322707" y="4294584"/>
            <a:ext cx="2983185" cy="390525"/>
          </a:xfrm>
          <a:prstGeom prst="roundRect">
            <a:avLst>
              <a:gd name="adj" fmla="val 34265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8417955" y="4380309"/>
            <a:ext cx="219070" cy="219075"/>
          </a:xfrm>
          <a:prstGeom prst="rect">
            <a:avLst/>
          </a:prstGeom>
          <a:solidFill>
            <a:srgbClr val="DCE9EF"/>
          </a:solidFill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732272" y="4409331"/>
            <a:ext cx="1231968" cy="1608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Rerun relevant checks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322707" y="5103614"/>
            <a:ext cx="2983185" cy="443805"/>
          </a:xfrm>
          <a:prstGeom prst="rect">
            <a:avLst/>
          </a:prstGeom>
          <a:noFill/>
          <a:ln/>
        </p:spPr>
        <p:txBody>
          <a:bodyPr wrap="square" lIns="114297" tIns="114297" rIns="114297" bIns="114297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Repeat until the change meets its acceptance criteria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85783" y="5909370"/>
            <a:ext cx="10820129" cy="434280"/>
          </a:xfrm>
          <a:prstGeom prst="roundRect">
            <a:avLst>
              <a:gd name="adj" fmla="val 32327"/>
            </a:avLst>
          </a:prstGeom>
          <a:solidFill>
            <a:srgbClr val="FFF8E9"/>
          </a:solidFill>
          <a:ln/>
        </p:spPr>
      </p:sp>
      <p:sp>
        <p:nvSpPr>
          <p:cNvPr id="55" name="Shape 53"/>
          <p:cNvSpPr/>
          <p:nvPr/>
        </p:nvSpPr>
        <p:spPr>
          <a:xfrm>
            <a:off x="685783" y="5909370"/>
            <a:ext cx="10820129" cy="9525"/>
          </a:xfrm>
          <a:prstGeom prst="rect">
            <a:avLst/>
          </a:prstGeom>
          <a:solidFill>
            <a:srgbClr val="E5A84B"/>
          </a:solidFill>
          <a:ln/>
        </p:spPr>
      </p:sp>
      <p:sp>
        <p:nvSpPr>
          <p:cNvPr id="56" name="Shape 54"/>
          <p:cNvSpPr/>
          <p:nvPr/>
        </p:nvSpPr>
        <p:spPr>
          <a:xfrm>
            <a:off x="11496388" y="5909370"/>
            <a:ext cx="9525" cy="434280"/>
          </a:xfrm>
          <a:prstGeom prst="rect">
            <a:avLst/>
          </a:prstGeom>
          <a:solidFill>
            <a:srgbClr val="E5A84B"/>
          </a:solidFill>
          <a:ln/>
        </p:spPr>
      </p:sp>
      <p:sp>
        <p:nvSpPr>
          <p:cNvPr id="57" name="Shape 55"/>
          <p:cNvSpPr/>
          <p:nvPr/>
        </p:nvSpPr>
        <p:spPr>
          <a:xfrm>
            <a:off x="685783" y="6334125"/>
            <a:ext cx="10820129" cy="9525"/>
          </a:xfrm>
          <a:prstGeom prst="rect">
            <a:avLst/>
          </a:prstGeom>
          <a:solidFill>
            <a:srgbClr val="E5A84B"/>
          </a:solidFill>
          <a:ln/>
        </p:spPr>
      </p:sp>
      <p:sp>
        <p:nvSpPr>
          <p:cNvPr id="58" name="Shape 56"/>
          <p:cNvSpPr/>
          <p:nvPr/>
        </p:nvSpPr>
        <p:spPr>
          <a:xfrm>
            <a:off x="685783" y="5909370"/>
            <a:ext cx="47624" cy="434280"/>
          </a:xfrm>
          <a:prstGeom prst="rect">
            <a:avLst/>
          </a:prstGeom>
          <a:solidFill>
            <a:srgbClr val="E5A84B"/>
          </a:solidFill>
          <a:ln/>
        </p:spPr>
      </p:sp>
      <p:sp>
        <p:nvSpPr>
          <p:cNvPr id="59" name="Text 57"/>
          <p:cNvSpPr/>
          <p:nvPr/>
        </p:nvSpPr>
        <p:spPr>
          <a:xfrm>
            <a:off x="895328" y="6069360"/>
            <a:ext cx="839965" cy="114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55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IN MIND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868639" y="6033195"/>
            <a:ext cx="4454761" cy="18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13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Passing tests increases confidence; it does not prove the change is correct.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11277318" y="247650"/>
            <a:ext cx="228594" cy="228600"/>
          </a:xfrm>
          <a:prstGeom prst="roundRect">
            <a:avLst>
              <a:gd name="adj" fmla="val 100003"/>
            </a:avLst>
          </a:prstGeom>
          <a:noFill/>
          <a:ln w="12700">
            <a:solidFill>
              <a:srgbClr val="2F6B8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566738"/>
            <a:ext cx="323842" cy="28575"/>
          </a:xfrm>
          <a:prstGeom prst="ellipse">
            <a:avLst/>
          </a:prstGeom>
          <a:solidFill>
            <a:srgbClr val="E5A84B"/>
          </a:solidFill>
          <a:ln/>
        </p:spPr>
      </p:sp>
      <p:sp>
        <p:nvSpPr>
          <p:cNvPr id="3" name="Text 1"/>
          <p:cNvSpPr/>
          <p:nvPr/>
        </p:nvSpPr>
        <p:spPr>
          <a:xfrm>
            <a:off x="1123922" y="518220"/>
            <a:ext cx="1553727" cy="1256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spc="100" kern="0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783" y="876300"/>
            <a:ext cx="10820129" cy="3626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duplicate course enrollment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783" y="1410444"/>
            <a:ext cx="4676956" cy="1965722"/>
          </a:xfrm>
          <a:prstGeom prst="roundRect">
            <a:avLst>
              <a:gd name="adj" fmla="val 1803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17324D"/>
            </a:solidFill>
            <a:prstDash val="solid"/>
          </a:ln>
          <a:effectLst>
            <a:outerShdw sx="100000" sy="100000" kx="0" ky="0" algn="bl" rotWithShape="0" blurRad="152400" dist="38100" dir="1620000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04852" y="1610469"/>
            <a:ext cx="4238817" cy="114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BUG-FIX TASK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04852" y="1839069"/>
            <a:ext cx="4238817" cy="56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can enroll in the same course twice.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04852" y="2533204"/>
            <a:ext cx="740997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04852" y="3028504"/>
            <a:ext cx="4238817" cy="1309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i="1" dirty="0">
                <a:solidFill>
                  <a:srgbClr val="5B69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scenario—not a claim about a specific real system.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553234" y="1410444"/>
            <a:ext cx="5952679" cy="1965722"/>
          </a:xfrm>
          <a:prstGeom prst="roundRect">
            <a:avLst>
              <a:gd name="adj" fmla="val 1803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17324D"/>
            </a:solidFill>
            <a:prstDash val="solid"/>
          </a:ln>
          <a:effectLst>
            <a:outerShdw sx="100000" sy="100000" kx="0" ky="0" algn="bl" rotWithShape="0" blurRad="152400" dist="38100" dir="16200000">
              <a:srgbClr val="000000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53254" y="1591419"/>
            <a:ext cx="5552639" cy="114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PATH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753254" y="1877169"/>
            <a:ext cx="1590486" cy="628650"/>
          </a:xfrm>
          <a:prstGeom prst="roundRect">
            <a:avLst>
              <a:gd name="adj" fmla="val 17631"/>
            </a:avLst>
          </a:prstGeom>
          <a:solidFill>
            <a:srgbClr val="EEF4F7"/>
          </a:solidFill>
          <a:ln w="12700">
            <a:solidFill>
              <a:srgbClr val="2F6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8026" y="2239119"/>
            <a:ext cx="1380942" cy="114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submits enrollment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438988" y="2077194"/>
            <a:ext cx="2000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34255" y="1877169"/>
            <a:ext cx="1590635" cy="628650"/>
          </a:xfrm>
          <a:prstGeom prst="roundRect">
            <a:avLst>
              <a:gd name="adj" fmla="val 17631"/>
            </a:avLst>
          </a:prstGeom>
          <a:solidFill>
            <a:srgbClr val="EEF4F7"/>
          </a:solidFill>
          <a:ln w="12700">
            <a:solidFill>
              <a:srgbClr val="2F6B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39028" y="2239119"/>
            <a:ext cx="1381090" cy="114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request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420138" y="2077194"/>
            <a:ext cx="2000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715406" y="1877169"/>
            <a:ext cx="1590486" cy="628650"/>
          </a:xfrm>
          <a:prstGeom prst="roundRect">
            <a:avLst>
              <a:gd name="adj" fmla="val 17631"/>
            </a:avLst>
          </a:prstGeom>
          <a:solidFill>
            <a:srgbClr val="EEF4F7"/>
          </a:solidFill>
          <a:ln w="12700">
            <a:solidFill>
              <a:srgbClr val="2F6B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20178" y="2239119"/>
            <a:ext cx="1380942" cy="114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enrollment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753254" y="2677269"/>
            <a:ext cx="5552639" cy="517922"/>
          </a:xfrm>
          <a:prstGeom prst="roundRect">
            <a:avLst>
              <a:gd name="adj" fmla="val 19482"/>
            </a:avLst>
          </a:prstGeom>
          <a:solidFill>
            <a:srgbClr val="E5A84B">
              <a:alpha val="18000"/>
            </a:srgbClr>
          </a:solidFill>
          <a:ln w="12700">
            <a:solidFill>
              <a:srgbClr val="E5A8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77076" y="2782044"/>
            <a:ext cx="5304995" cy="154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6247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request highlighted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5783" y="3547616"/>
            <a:ext cx="6271460" cy="1209229"/>
          </a:xfrm>
          <a:prstGeom prst="roundRect">
            <a:avLst>
              <a:gd name="adj" fmla="val 4765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17324D"/>
            </a:solidFill>
            <a:prstDash val="solid"/>
          </a:ln>
          <a:effectLst>
            <a:outerShdw sx="100000" sy="100000" kx="0" ky="0" algn="bl" rotWithShape="0" blurRad="152400" dist="38100" dir="16200000">
              <a:srgbClr val="000000">
                <a:alpha val="5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85803" y="3709541"/>
            <a:ext cx="5871420" cy="194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conditions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85803" y="3999012"/>
            <a:ext cx="2849987" cy="346472"/>
          </a:xfrm>
          <a:prstGeom prst="rect">
            <a:avLst/>
          </a:prstGeom>
          <a:noFill/>
          <a:ln/>
        </p:spPr>
        <p:txBody>
          <a:bodyPr wrap="square" lIns="209545" tIns="209545" rIns="209545" bIns="209545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duplicate enrollment or safely treat it as a no-op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907236" y="3999012"/>
            <a:ext cx="2849987" cy="346472"/>
          </a:xfrm>
          <a:prstGeom prst="rect">
            <a:avLst/>
          </a:prstGeom>
          <a:noFill/>
          <a:ln/>
        </p:spPr>
        <p:txBody>
          <a:bodyPr wrap="square" lIns="209545" tIns="209545" rIns="209545" bIns="209545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existing enrollment behavior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5803" y="4421684"/>
            <a:ext cx="2849987" cy="173236"/>
          </a:xfrm>
          <a:prstGeom prst="rect">
            <a:avLst/>
          </a:prstGeom>
          <a:noFill/>
          <a:ln/>
        </p:spPr>
        <p:txBody>
          <a:bodyPr wrap="square" lIns="209545" tIns="209545" rIns="209545" bIns="209545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regression test for the bug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07236" y="4421684"/>
            <a:ext cx="2849987" cy="173236"/>
          </a:xfrm>
          <a:prstGeom prst="rect">
            <a:avLst/>
          </a:prstGeom>
          <a:noFill/>
          <a:ln/>
        </p:spPr>
        <p:txBody>
          <a:bodyPr wrap="square" lIns="209545" tIns="209545" rIns="209545" bIns="209545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no unrelated files or data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47738" y="3547616"/>
            <a:ext cx="4358025" cy="1209229"/>
          </a:xfrm>
          <a:prstGeom prst="roundRect">
            <a:avLst>
              <a:gd name="adj" fmla="val 4765"/>
            </a:avLst>
          </a:prstGeom>
          <a:solidFill>
            <a:srgbClr val="FFFFFF">
              <a:alpha val="78000"/>
            </a:srgbClr>
          </a:solidFill>
          <a:ln/>
          <a:effectLst>
            <a:outerShdw sx="100000" sy="100000" kx="0" ky="0" algn="bl" rotWithShape="0" blurRad="152400" dist="38100" dir="16200000">
              <a:srgbClr val="000000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47738" y="3547616"/>
            <a:ext cx="4358025" cy="9525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96239" y="3547616"/>
            <a:ext cx="9525" cy="1209229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1" name="Shape 29"/>
          <p:cNvSpPr/>
          <p:nvPr/>
        </p:nvSpPr>
        <p:spPr>
          <a:xfrm>
            <a:off x="7147738" y="4747320"/>
            <a:ext cx="4358025" cy="9525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2" name="Shape 30"/>
          <p:cNvSpPr/>
          <p:nvPr/>
        </p:nvSpPr>
        <p:spPr>
          <a:xfrm>
            <a:off x="7147738" y="3547616"/>
            <a:ext cx="38099" cy="1209229"/>
          </a:xfrm>
          <a:prstGeom prst="rect">
            <a:avLst/>
          </a:prstGeom>
          <a:solidFill>
            <a:srgbClr val="E5A84B"/>
          </a:solidFill>
          <a:ln/>
        </p:spPr>
      </p:sp>
      <p:sp>
        <p:nvSpPr>
          <p:cNvPr id="33" name="Text 31"/>
          <p:cNvSpPr/>
          <p:nvPr/>
        </p:nvSpPr>
        <p:spPr>
          <a:xfrm>
            <a:off x="7357283" y="3858369"/>
            <a:ext cx="3967510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setup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57283" y="4086969"/>
            <a:ext cx="3967510" cy="3589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instructions, a task-scoped workspace, test and search tools, and no production credentials.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1277318" y="247650"/>
            <a:ext cx="228594" cy="228600"/>
          </a:xfrm>
          <a:prstGeom prst="roundRect">
            <a:avLst>
              <a:gd name="adj" fmla="val 100003"/>
            </a:avLst>
          </a:prstGeom>
          <a:noFill/>
          <a:ln w="12700">
            <a:solidFill>
              <a:srgbClr val="2F6B8A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566738"/>
            <a:ext cx="323842" cy="28575"/>
          </a:xfrm>
          <a:prstGeom prst="ellipse">
            <a:avLst/>
          </a:prstGeom>
          <a:solidFill>
            <a:srgbClr val="E5A84B"/>
          </a:solidFill>
          <a:ln/>
        </p:spPr>
      </p:sp>
      <p:sp>
        <p:nvSpPr>
          <p:cNvPr id="3" name="Text 1"/>
          <p:cNvSpPr/>
          <p:nvPr/>
        </p:nvSpPr>
        <p:spPr>
          <a:xfrm>
            <a:off x="1123922" y="518220"/>
            <a:ext cx="1553727" cy="1256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spc="100" kern="0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783" y="895350"/>
            <a:ext cx="10820129" cy="3839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request to reviewed change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61981" y="1488877"/>
            <a:ext cx="3441564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74991" y="1488877"/>
            <a:ext cx="3441564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988001" y="1488877"/>
            <a:ext cx="3441713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783" y="1812727"/>
            <a:ext cx="1692133" cy="2694087"/>
          </a:xfrm>
          <a:prstGeom prst="roundRect">
            <a:avLst>
              <a:gd name="adj" fmla="val 2433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17324D"/>
            </a:solidFill>
            <a:prstDash val="solid"/>
          </a:ln>
          <a:effectLst>
            <a:outerShdw sx="100000" sy="100000" kx="0" ky="0" algn="bl" rotWithShape="0" blurRad="152400" dist="38100" dir="16200000">
              <a:srgbClr val="000000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8654" y="1984177"/>
            <a:ext cx="285743" cy="285750"/>
          </a:xfrm>
          <a:prstGeom prst="rect">
            <a:avLst/>
          </a:prstGeom>
          <a:solidFill>
            <a:srgbClr val="E8F0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8654" y="2374702"/>
            <a:ext cx="1406391" cy="205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8654" y="2685157"/>
            <a:ext cx="1406391" cy="567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Restate the bug and define what counts as fixed.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1263" y="1812727"/>
            <a:ext cx="1692282" cy="2694087"/>
          </a:xfrm>
          <a:prstGeom prst="roundRect">
            <a:avLst>
              <a:gd name="adj" fmla="val 2433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17324D"/>
            </a:solidFill>
            <a:prstDash val="solid"/>
          </a:ln>
          <a:effectLst>
            <a:outerShdw sx="100000" sy="100000" kx="0" ky="0" algn="bl" rotWithShape="0" blurRad="152400" dist="38100" dir="16200000">
              <a:srgbClr val="000000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54134" y="1984177"/>
            <a:ext cx="285743" cy="285750"/>
          </a:xfrm>
          <a:prstGeom prst="rect">
            <a:avLst/>
          </a:prstGeom>
          <a:solidFill>
            <a:srgbClr val="E8F0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4134" y="2374702"/>
            <a:ext cx="1406539" cy="205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54134" y="2685157"/>
            <a:ext cx="1406539" cy="567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enrollment logic, related tests, and project rules.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36892" y="1812727"/>
            <a:ext cx="1692282" cy="2694087"/>
          </a:xfrm>
          <a:prstGeom prst="roundRect">
            <a:avLst>
              <a:gd name="adj" fmla="val 2433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17324D"/>
            </a:solidFill>
            <a:prstDash val="solid"/>
          </a:ln>
          <a:effectLst>
            <a:outerShdw sx="100000" sy="100000" kx="0" ky="0" algn="bl" rotWithShape="0" blurRad="152400" dist="38100" dir="16200000">
              <a:srgbClr val="000000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79763" y="1984177"/>
            <a:ext cx="285743" cy="285750"/>
          </a:xfrm>
          <a:prstGeom prst="rect">
            <a:avLst/>
          </a:prstGeom>
          <a:solidFill>
            <a:srgbClr val="E8F0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79763" y="2374702"/>
            <a:ext cx="1406539" cy="205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79763" y="2685157"/>
            <a:ext cx="1406539" cy="567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smallest safe change before editing.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62521" y="1812727"/>
            <a:ext cx="1692133" cy="2694087"/>
          </a:xfrm>
          <a:prstGeom prst="roundRect">
            <a:avLst>
              <a:gd name="adj" fmla="val 2433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17324D"/>
            </a:solidFill>
            <a:prstDash val="solid"/>
          </a:ln>
          <a:effectLst>
            <a:outerShdw sx="100000" sy="100000" kx="0" ky="0" algn="bl" rotWithShape="0" blurRad="152400" dist="38100" dir="16200000">
              <a:srgbClr val="000000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05392" y="1984177"/>
            <a:ext cx="285743" cy="285750"/>
          </a:xfrm>
          <a:prstGeom prst="rect">
            <a:avLst/>
          </a:prstGeom>
          <a:solidFill>
            <a:srgbClr val="E8F0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5392" y="2374702"/>
            <a:ext cx="1406391" cy="205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5392" y="2685157"/>
            <a:ext cx="1406391" cy="7572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duplicate enrollment at the appropriate application or data boundary.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5392" y="3547170"/>
            <a:ext cx="1406391" cy="807244"/>
          </a:xfrm>
          <a:prstGeom prst="rect">
            <a:avLst/>
          </a:prstGeom>
          <a:solidFill>
            <a:srgbClr val="E5A84B">
              <a:alpha val="13000"/>
            </a:srgbClr>
          </a:solidFill>
          <a:ln/>
        </p:spPr>
        <p:txBody>
          <a:bodyPr wrap="square" lIns="104772" tIns="104772" rIns="104772" bIns="104772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14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check existing records before creating a new enrollment.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988001" y="1812727"/>
            <a:ext cx="1692282" cy="2694087"/>
          </a:xfrm>
          <a:prstGeom prst="roundRect">
            <a:avLst>
              <a:gd name="adj" fmla="val 2433"/>
            </a:avLst>
          </a:prstGeom>
          <a:solidFill>
            <a:srgbClr val="FFF9EF"/>
          </a:solidFill>
          <a:ln w="12700">
            <a:solidFill>
              <a:srgbClr val="E5A84B"/>
            </a:solidFill>
            <a:prstDash val="solid"/>
          </a:ln>
          <a:effectLst>
            <a:outerShdw sx="100000" sy="100000" kx="0" ky="0" algn="bl" rotWithShape="0" blurRad="152400" dist="38100" dir="16200000">
              <a:srgbClr val="000000">
                <a:alpha val="5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130873" y="1984177"/>
            <a:ext cx="285743" cy="285750"/>
          </a:xfrm>
          <a:prstGeom prst="rect">
            <a:avLst/>
          </a:prstGeom>
          <a:solidFill>
            <a:srgbClr val="E5A8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30873" y="2374702"/>
            <a:ext cx="1406539" cy="205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130873" y="2685157"/>
            <a:ext cx="1406539" cy="7572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regression test; run focused tests, then broader checks as appropriate.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813630" y="1812727"/>
            <a:ext cx="1692282" cy="2694087"/>
          </a:xfrm>
          <a:prstGeom prst="roundRect">
            <a:avLst>
              <a:gd name="adj" fmla="val 2433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17324D"/>
            </a:solidFill>
            <a:prstDash val="solid"/>
          </a:ln>
          <a:effectLst>
            <a:outerShdw sx="100000" sy="100000" kx="0" ky="0" algn="bl" rotWithShape="0" blurRad="152400" dist="38100" dir="16200000">
              <a:srgbClr val="000000">
                <a:alpha val="5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956501" y="1984177"/>
            <a:ext cx="285743" cy="285750"/>
          </a:xfrm>
          <a:prstGeom prst="rect">
            <a:avLst/>
          </a:prstGeom>
          <a:solidFill>
            <a:srgbClr val="E8F0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956501" y="2374702"/>
            <a:ext cx="1406539" cy="205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956501" y="2685157"/>
            <a:ext cx="1406539" cy="7572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the change, checks run, and remaining uncertainty.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783" y="4716363"/>
            <a:ext cx="10820129" cy="652909"/>
          </a:xfrm>
          <a:prstGeom prst="roundRect">
            <a:avLst>
              <a:gd name="adj" fmla="val 16345"/>
            </a:avLst>
          </a:prstGeom>
          <a:solidFill>
            <a:srgbClr val="FFF8E9"/>
          </a:solidFill>
          <a:ln w="12700">
            <a:solidFill>
              <a:srgbClr val="E5A8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5803" y="4871293"/>
            <a:ext cx="342891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59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381090" y="4859238"/>
            <a:ext cx="4389278" cy="171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checkpoint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381090" y="5059263"/>
            <a:ext cx="4389278" cy="1671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proposed diff before merging; confirm the change and test evidence.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029425" y="4899868"/>
            <a:ext cx="1276467" cy="285750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114297" tIns="114297" rIns="114297" bIns="114297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→ MERGE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1277318" y="247650"/>
            <a:ext cx="228594" cy="228600"/>
          </a:xfrm>
          <a:prstGeom prst="roundRect">
            <a:avLst>
              <a:gd name="adj" fmla="val 100003"/>
            </a:avLst>
          </a:prstGeom>
          <a:noFill/>
          <a:ln w="12700">
            <a:solidFill>
              <a:srgbClr val="2F6B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201120" y="6524625"/>
            <a:ext cx="304792" cy="104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566738"/>
            <a:ext cx="323842" cy="28575"/>
          </a:xfrm>
          <a:prstGeom prst="ellipse">
            <a:avLst/>
          </a:prstGeom>
          <a:solidFill>
            <a:srgbClr val="E5A84B"/>
          </a:solidFill>
          <a:ln/>
        </p:spPr>
      </p:sp>
      <p:sp>
        <p:nvSpPr>
          <p:cNvPr id="3" name="Text 1"/>
          <p:cNvSpPr/>
          <p:nvPr/>
        </p:nvSpPr>
        <p:spPr>
          <a:xfrm>
            <a:off x="1123922" y="518220"/>
            <a:ext cx="1553727" cy="1256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spc="100" kern="0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783" y="876300"/>
            <a:ext cx="10820129" cy="3626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basic loop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783" y="1410444"/>
            <a:ext cx="4048024" cy="1883866"/>
          </a:xfrm>
          <a:prstGeom prst="roundRect">
            <a:avLst>
              <a:gd name="adj" fmla="val 1963"/>
            </a:avLst>
          </a:prstGeom>
          <a:solidFill>
            <a:srgbClr val="FFFFFF">
              <a:alpha val="78000"/>
            </a:srgbClr>
          </a:solidFill>
          <a:ln/>
          <a:effectLst>
            <a:outerShdw sx="100000" sy="100000" kx="0" ky="0" algn="bl" rotWithShape="0" blurRad="152400" dist="38100" dir="162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783" y="1410444"/>
            <a:ext cx="4048024" cy="9525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7" name="Shape 5"/>
          <p:cNvSpPr/>
          <p:nvPr/>
        </p:nvSpPr>
        <p:spPr>
          <a:xfrm>
            <a:off x="4724282" y="1410444"/>
            <a:ext cx="9525" cy="1883866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8" name="Shape 6"/>
          <p:cNvSpPr/>
          <p:nvPr/>
        </p:nvSpPr>
        <p:spPr>
          <a:xfrm>
            <a:off x="685783" y="3284786"/>
            <a:ext cx="4048024" cy="9525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9" name="Shape 7"/>
          <p:cNvSpPr/>
          <p:nvPr/>
        </p:nvSpPr>
        <p:spPr>
          <a:xfrm>
            <a:off x="685783" y="1410444"/>
            <a:ext cx="38099" cy="1883866"/>
          </a:xfrm>
          <a:prstGeom prst="rect">
            <a:avLst/>
          </a:prstGeom>
          <a:solidFill>
            <a:srgbClr val="2F6B8A"/>
          </a:solidFill>
          <a:ln/>
        </p:spPr>
      </p:sp>
      <p:sp>
        <p:nvSpPr>
          <p:cNvPr id="10" name="Text 8"/>
          <p:cNvSpPr/>
          <p:nvPr/>
        </p:nvSpPr>
        <p:spPr>
          <a:xfrm>
            <a:off x="876278" y="2048470"/>
            <a:ext cx="3695608" cy="1827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&amp; recovery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6278" y="2288381"/>
            <a:ext cx="3695608" cy="3679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in a disposable branch or workspace, with a clear rollback path.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57889" y="1410444"/>
            <a:ext cx="4048024" cy="1883866"/>
          </a:xfrm>
          <a:prstGeom prst="roundRect">
            <a:avLst>
              <a:gd name="adj" fmla="val 1963"/>
            </a:avLst>
          </a:prstGeom>
          <a:solidFill>
            <a:srgbClr val="FFFFFF">
              <a:alpha val="78000"/>
            </a:srgbClr>
          </a:solidFill>
          <a:ln/>
          <a:effectLst>
            <a:outerShdw sx="100000" sy="100000" kx="0" ky="0" algn="bl" rotWithShape="0" blurRad="152400" dist="38100" dir="1620000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57889" y="1410444"/>
            <a:ext cx="4048024" cy="9525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96388" y="1410444"/>
            <a:ext cx="9525" cy="1883866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15" name="Shape 13"/>
          <p:cNvSpPr/>
          <p:nvPr/>
        </p:nvSpPr>
        <p:spPr>
          <a:xfrm>
            <a:off x="7457889" y="3284786"/>
            <a:ext cx="4048024" cy="9525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16" name="Shape 14"/>
          <p:cNvSpPr/>
          <p:nvPr/>
        </p:nvSpPr>
        <p:spPr>
          <a:xfrm>
            <a:off x="7457889" y="1410444"/>
            <a:ext cx="38099" cy="1883866"/>
          </a:xfrm>
          <a:prstGeom prst="rect">
            <a:avLst/>
          </a:prstGeom>
          <a:solidFill>
            <a:srgbClr val="2F6B8A"/>
          </a:solidFill>
          <a:ln/>
        </p:spPr>
      </p:sp>
      <p:sp>
        <p:nvSpPr>
          <p:cNvPr id="17" name="Text 15"/>
          <p:cNvSpPr/>
          <p:nvPr/>
        </p:nvSpPr>
        <p:spPr>
          <a:xfrm>
            <a:off x="7648384" y="2048470"/>
            <a:ext cx="3695608" cy="1827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&amp; checkpoints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48384" y="2288381"/>
            <a:ext cx="3695608" cy="3679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the task, plan, changed files, checks completed, and open questions.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783" y="3408611"/>
            <a:ext cx="4048024" cy="1884015"/>
          </a:xfrm>
          <a:prstGeom prst="roundRect">
            <a:avLst>
              <a:gd name="adj" fmla="val 1963"/>
            </a:avLst>
          </a:prstGeom>
          <a:solidFill>
            <a:srgbClr val="FFFFFF">
              <a:alpha val="78000"/>
            </a:srgbClr>
          </a:solidFill>
          <a:ln/>
          <a:effectLst>
            <a:outerShdw sx="100000" sy="100000" kx="0" ky="0" algn="bl" rotWithShape="0" blurRad="152400" dist="38100" dir="16200000">
              <a:srgbClr val="00000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783" y="3408611"/>
            <a:ext cx="4048024" cy="9525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21" name="Shape 19"/>
          <p:cNvSpPr/>
          <p:nvPr/>
        </p:nvSpPr>
        <p:spPr>
          <a:xfrm>
            <a:off x="4724282" y="3408611"/>
            <a:ext cx="9525" cy="1884015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783" y="5283101"/>
            <a:ext cx="4048024" cy="9525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783" y="3408611"/>
            <a:ext cx="38099" cy="1884015"/>
          </a:xfrm>
          <a:prstGeom prst="rect">
            <a:avLst/>
          </a:prstGeom>
          <a:solidFill>
            <a:srgbClr val="2F6B8A"/>
          </a:solidFill>
          <a:ln/>
        </p:spPr>
      </p:sp>
      <p:sp>
        <p:nvSpPr>
          <p:cNvPr id="24" name="Text 22"/>
          <p:cNvSpPr/>
          <p:nvPr/>
        </p:nvSpPr>
        <p:spPr>
          <a:xfrm>
            <a:off x="876278" y="4046637"/>
            <a:ext cx="3695608" cy="1827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autonomy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6278" y="4286548"/>
            <a:ext cx="3695608" cy="3679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limits on tool calls, time, and repair attempts; pause for help if progress stalls.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57889" y="3408611"/>
            <a:ext cx="4048024" cy="1884015"/>
          </a:xfrm>
          <a:prstGeom prst="roundRect">
            <a:avLst>
              <a:gd name="adj" fmla="val 1963"/>
            </a:avLst>
          </a:prstGeom>
          <a:solidFill>
            <a:srgbClr val="FFFFFF">
              <a:alpha val="78000"/>
            </a:srgbClr>
          </a:solidFill>
          <a:ln/>
          <a:effectLst>
            <a:outerShdw sx="100000" sy="100000" kx="0" ky="0" algn="bl" rotWithShape="0" blurRad="152400" dist="38100" dir="16200000">
              <a:srgbClr val="000000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57889" y="3408611"/>
            <a:ext cx="4048024" cy="9525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96388" y="3408611"/>
            <a:ext cx="9525" cy="1884015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29" name="Shape 27"/>
          <p:cNvSpPr/>
          <p:nvPr/>
        </p:nvSpPr>
        <p:spPr>
          <a:xfrm>
            <a:off x="7457889" y="5283101"/>
            <a:ext cx="4048024" cy="9525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0" name="Shape 28"/>
          <p:cNvSpPr/>
          <p:nvPr/>
        </p:nvSpPr>
        <p:spPr>
          <a:xfrm>
            <a:off x="7457889" y="3408611"/>
            <a:ext cx="38099" cy="1884015"/>
          </a:xfrm>
          <a:prstGeom prst="rect">
            <a:avLst/>
          </a:prstGeom>
          <a:solidFill>
            <a:srgbClr val="2F6B8A"/>
          </a:solidFill>
          <a:ln/>
        </p:spPr>
      </p:sp>
      <p:sp>
        <p:nvSpPr>
          <p:cNvPr id="31" name="Text 29"/>
          <p:cNvSpPr/>
          <p:nvPr/>
        </p:nvSpPr>
        <p:spPr>
          <a:xfrm>
            <a:off x="7648384" y="4046637"/>
            <a:ext cx="3695608" cy="1827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48384" y="4286548"/>
            <a:ext cx="3695608" cy="3679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representative tasks and edge cases; success on one demo is not enough.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05252" y="3408611"/>
            <a:ext cx="2381190" cy="1884015"/>
          </a:xfrm>
          <a:prstGeom prst="roundRect">
            <a:avLst>
              <a:gd name="adj" fmla="val 1963"/>
            </a:avLst>
          </a:prstGeom>
          <a:solidFill>
            <a:srgbClr val="FFFFFF">
              <a:alpha val="78000"/>
            </a:srgbClr>
          </a:solidFill>
          <a:ln/>
          <a:effectLst>
            <a:outerShdw sx="100000" sy="100000" kx="0" ky="0" algn="bl" rotWithShape="0" blurRad="152400" dist="38100" dir="16200000">
              <a:srgbClr val="000000">
                <a:alpha val="5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905252" y="3408611"/>
            <a:ext cx="2381190" cy="9525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5" name="Shape 33"/>
          <p:cNvSpPr/>
          <p:nvPr/>
        </p:nvSpPr>
        <p:spPr>
          <a:xfrm>
            <a:off x="7276918" y="3408611"/>
            <a:ext cx="9525" cy="1884015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6" name="Shape 34"/>
          <p:cNvSpPr/>
          <p:nvPr/>
        </p:nvSpPr>
        <p:spPr>
          <a:xfrm>
            <a:off x="4905252" y="5283101"/>
            <a:ext cx="2381190" cy="9525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7" name="Shape 35"/>
          <p:cNvSpPr/>
          <p:nvPr/>
        </p:nvSpPr>
        <p:spPr>
          <a:xfrm>
            <a:off x="4905252" y="3408611"/>
            <a:ext cx="38099" cy="1884015"/>
          </a:xfrm>
          <a:prstGeom prst="rect">
            <a:avLst/>
          </a:prstGeom>
          <a:solidFill>
            <a:srgbClr val="2F6B8A"/>
          </a:solidFill>
          <a:ln/>
        </p:spPr>
      </p:sp>
      <p:sp>
        <p:nvSpPr>
          <p:cNvPr id="38" name="Text 36"/>
          <p:cNvSpPr/>
          <p:nvPr/>
        </p:nvSpPr>
        <p:spPr>
          <a:xfrm>
            <a:off x="5095748" y="4046637"/>
            <a:ext cx="2028774" cy="1827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95748" y="4286548"/>
            <a:ext cx="2028774" cy="3679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diff, test results, and key tool actions for review.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905252" y="1943844"/>
            <a:ext cx="2381190" cy="817066"/>
          </a:xfrm>
          <a:prstGeom prst="roundRect">
            <a:avLst>
              <a:gd name="adj" fmla="val 13046"/>
            </a:avLst>
          </a:prstGeom>
          <a:solidFill>
            <a:srgbClr val="FFFFFF"/>
          </a:solidFill>
          <a:ln w="25400">
            <a:solidFill>
              <a:srgbClr val="E5A84B"/>
            </a:solidFill>
            <a:prstDash val="solid"/>
          </a:ln>
          <a:effectLst>
            <a:outerShdw sx="100000" sy="100000" kx="0" ky="0" algn="bl" rotWithShape="0" blurRad="177800" dist="50800" dir="16200000">
              <a:srgbClr val="000000">
                <a:alpha val="5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443104" y="2077194"/>
            <a:ext cx="1305488" cy="205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change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038599" y="2330500"/>
            <a:ext cx="2114497" cy="2970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work together to support a safe outcome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85783" y="5464076"/>
            <a:ext cx="10820129" cy="879574"/>
          </a:xfrm>
          <a:prstGeom prst="roundRect">
            <a:avLst>
              <a:gd name="adj" fmla="val 9006"/>
            </a:avLst>
          </a:prstGeom>
          <a:solidFill>
            <a:srgbClr val="17324D"/>
          </a:solidFill>
          <a:ln/>
        </p:spPr>
      </p:sp>
      <p:sp>
        <p:nvSpPr>
          <p:cNvPr id="44" name="Text 42"/>
          <p:cNvSpPr/>
          <p:nvPr/>
        </p:nvSpPr>
        <p:spPr>
          <a:xfrm>
            <a:off x="838179" y="5587901"/>
            <a:ext cx="2781677" cy="1485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CASE-STUDY EDGE CASES TO EVALUATE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715104" y="5652641"/>
            <a:ext cx="7638413" cy="19050"/>
          </a:xfrm>
          <a:prstGeom prst="rect">
            <a:avLst/>
          </a:prstGeom>
          <a:solidFill>
            <a:srgbClr val="E5A84B">
              <a:alpha val="9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838179" y="5822156"/>
            <a:ext cx="200020" cy="200025"/>
          </a:xfrm>
          <a:prstGeom prst="rect">
            <a:avLst/>
          </a:prstGeom>
          <a:solidFill>
            <a:srgbClr val="E5A84B"/>
          </a:solidFill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114397" y="5838825"/>
            <a:ext cx="1927276" cy="166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Simultaneous duplicate requests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387641" y="5822156"/>
            <a:ext cx="200020" cy="200025"/>
          </a:xfrm>
          <a:prstGeom prst="rect">
            <a:avLst/>
          </a:prstGeom>
          <a:solidFill>
            <a:srgbClr val="E5A84B"/>
          </a:solidFill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663859" y="5838825"/>
            <a:ext cx="1519497" cy="166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duplicate records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937252" y="5822156"/>
            <a:ext cx="200020" cy="200025"/>
          </a:xfrm>
          <a:prstGeom prst="rect">
            <a:avLst/>
          </a:prstGeom>
          <a:solidFill>
            <a:srgbClr val="E5A84B"/>
          </a:solidFill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213470" y="5838825"/>
            <a:ext cx="2038448" cy="166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failure during enrollment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38179" y="6098381"/>
            <a:ext cx="10515337" cy="1309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checks performance across conditions; traces must follow privacy and credential-handling rules.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11277318" y="247650"/>
            <a:ext cx="228594" cy="228600"/>
          </a:xfrm>
          <a:prstGeom prst="roundRect">
            <a:avLst>
              <a:gd name="adj" fmla="val 100003"/>
            </a:avLst>
          </a:prstGeom>
          <a:noFill/>
          <a:ln w="12700">
            <a:solidFill>
              <a:srgbClr val="2F6B8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201120" y="6524625"/>
            <a:ext cx="304792" cy="104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566738"/>
            <a:ext cx="323842" cy="28575"/>
          </a:xfrm>
          <a:prstGeom prst="ellipse">
            <a:avLst/>
          </a:prstGeom>
          <a:solidFill>
            <a:srgbClr val="E5A84B"/>
          </a:solidFill>
          <a:ln/>
        </p:spPr>
      </p:sp>
      <p:sp>
        <p:nvSpPr>
          <p:cNvPr id="3" name="Text 1"/>
          <p:cNvSpPr/>
          <p:nvPr/>
        </p:nvSpPr>
        <p:spPr>
          <a:xfrm>
            <a:off x="1123922" y="518220"/>
            <a:ext cx="1553727" cy="1256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spc="100" kern="0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783" y="876300"/>
            <a:ext cx="10820129" cy="3626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reliable agent workflow is designed, not assumed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783" y="1429494"/>
            <a:ext cx="6760497" cy="3307556"/>
          </a:xfrm>
          <a:prstGeom prst="roundRect">
            <a:avLst>
              <a:gd name="adj" fmla="val 637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17324D"/>
            </a:solidFill>
            <a:prstDash val="solid"/>
          </a:ln>
          <a:effectLst>
            <a:outerShdw sx="100000" sy="100000" kx="0" ky="0" algn="bl" rotWithShape="0" blurRad="152400" dist="38100" dir="1620000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42951" y="1648569"/>
            <a:ext cx="6246160" cy="2024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checklist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42951" y="2003375"/>
            <a:ext cx="723882" cy="205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81130" y="2003375"/>
            <a:ext cx="5407981" cy="205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 and observable completion conditions.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42951" y="2323356"/>
            <a:ext cx="723882" cy="205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81130" y="2323356"/>
            <a:ext cx="5407981" cy="205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context, not unlimited context.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42951" y="2643336"/>
            <a:ext cx="723882" cy="205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81130" y="2643336"/>
            <a:ext cx="5407981" cy="205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and permissions to the task’s risk.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42951" y="2963317"/>
            <a:ext cx="723882" cy="205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81130" y="2963317"/>
            <a:ext cx="5407981" cy="205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with layered checks and human review where needed.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42951" y="3283297"/>
            <a:ext cx="723882" cy="6170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2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&amp; improve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81130" y="3283297"/>
            <a:ext cx="5407981" cy="205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72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traces, failures, and repeatable evaluations.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74875" y="1429494"/>
            <a:ext cx="3831038" cy="3307556"/>
          </a:xfrm>
          <a:prstGeom prst="roundRect">
            <a:avLst>
              <a:gd name="adj" fmla="val 637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17324D"/>
            </a:solidFill>
            <a:prstDash val="solid"/>
          </a:ln>
          <a:effectLst>
            <a:outerShdw sx="100000" sy="100000" kx="0" ky="0" algn="bl" rotWithShape="0" blurRad="152400" dist="38100" dir="16200000">
              <a:srgbClr val="000000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74895" y="1648569"/>
            <a:ext cx="3430998" cy="2024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iterative harness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74895" y="2041475"/>
            <a:ext cx="3430998" cy="376238"/>
          </a:xfrm>
          <a:prstGeom prst="rect">
            <a:avLst/>
          </a:prstGeom>
          <a:solidFill>
            <a:srgbClr val="F4F8FA"/>
          </a:solidFill>
          <a:ln/>
        </p:spPr>
        <p:txBody>
          <a:bodyPr wrap="square" lIns="133347" tIns="133347" rIns="133347" bIns="133347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74895" y="2503438"/>
            <a:ext cx="3430998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5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74895" y="2741563"/>
            <a:ext cx="3430998" cy="376238"/>
          </a:xfrm>
          <a:prstGeom prst="rect">
            <a:avLst/>
          </a:prstGeom>
          <a:solidFill>
            <a:srgbClr val="F4F8FA"/>
          </a:solidFill>
          <a:ln/>
        </p:spPr>
        <p:txBody>
          <a:bodyPr wrap="square" lIns="133347" tIns="133347" rIns="133347" bIns="133347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874895" y="3203525"/>
            <a:ext cx="3430998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5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74895" y="3441650"/>
            <a:ext cx="3430998" cy="376238"/>
          </a:xfrm>
          <a:prstGeom prst="rect">
            <a:avLst/>
          </a:prstGeom>
          <a:solidFill>
            <a:srgbClr val="F4F8FA"/>
          </a:solidFill>
          <a:ln/>
        </p:spPr>
        <p:txBody>
          <a:bodyPr wrap="square" lIns="133347" tIns="133347" rIns="133347" bIns="133347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74895" y="3903613"/>
            <a:ext cx="3430998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5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874895" y="4141738"/>
            <a:ext cx="3430998" cy="376238"/>
          </a:xfrm>
          <a:prstGeom prst="rect">
            <a:avLst/>
          </a:prstGeom>
          <a:solidFill>
            <a:srgbClr val="F4F8FA"/>
          </a:solidFill>
          <a:ln/>
        </p:spPr>
        <p:txBody>
          <a:bodyPr wrap="square" lIns="133347" tIns="133347" rIns="133347" bIns="133347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783" y="4927550"/>
            <a:ext cx="10820129" cy="558105"/>
          </a:xfrm>
          <a:prstGeom prst="roundRect">
            <a:avLst>
              <a:gd name="adj" fmla="val 22370"/>
            </a:avLst>
          </a:prstGeom>
          <a:solidFill>
            <a:srgbClr val="17324D"/>
          </a:solidFill>
          <a:ln/>
        </p:spPr>
      </p:sp>
      <p:sp>
        <p:nvSpPr>
          <p:cNvPr id="27" name="Text 25"/>
          <p:cNvSpPr/>
          <p:nvPr/>
        </p:nvSpPr>
        <p:spPr>
          <a:xfrm>
            <a:off x="3509875" y="5099000"/>
            <a:ext cx="5410958" cy="200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2C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harness makes its work bounded, testable, and reviewable.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1277318" y="247650"/>
            <a:ext cx="228594" cy="228600"/>
          </a:xfrm>
          <a:prstGeom prst="roundRect">
            <a:avLst>
              <a:gd name="adj" fmla="val 100003"/>
            </a:avLst>
          </a:prstGeom>
          <a:noFill/>
          <a:ln w="12700">
            <a:solidFill>
              <a:srgbClr val="2F6B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201120" y="6524625"/>
            <a:ext cx="304792" cy="104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PPT Maker</dc:creator>
  <cp:lastModifiedBy>PPT Maker</cp:lastModifiedBy>
  <cp:revision>1</cp:revision>
  <dcterms:created xsi:type="dcterms:W3CDTF">2026-10-15T18:56:40Z</dcterms:created>
  <dcterms:modified xsi:type="dcterms:W3CDTF">2026-10-15T18:56:40Z</dcterms:modified>
</cp:coreProperties>
</file>