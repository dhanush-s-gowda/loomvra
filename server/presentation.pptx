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783" y="566738"/>
            <a:ext cx="323842" cy="28575"/>
          </a:xfrm>
          <a:prstGeom prst="ellipse">
            <a:avLst/>
          </a:prstGeom>
          <a:solidFill>
            <a:srgbClr val="E5A84B"/>
          </a:solidFill>
          <a:ln/>
        </p:spPr>
      </p:sp>
      <p:sp>
        <p:nvSpPr>
          <p:cNvPr id="3" name="Text 1"/>
          <p:cNvSpPr/>
          <p:nvPr/>
        </p:nvSpPr>
        <p:spPr>
          <a:xfrm>
            <a:off x="1123922" y="518220"/>
            <a:ext cx="1553727" cy="12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90"/>
              </a:lnSpc>
              <a:buNone/>
            </a:pPr>
            <a:r>
              <a:rPr lang="en-US" sz="825" b="1" spc="116" kern="0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ENGINEERING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685783" y="1822847"/>
            <a:ext cx="5048124" cy="11093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4368"/>
              </a:lnSpc>
              <a:buNone/>
            </a:pPr>
            <a:r>
              <a:rPr lang="en-US" sz="4200" b="1" spc="-105" kern="0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</a:t>
            </a:r>
            <a:endParaRPr lang="en-US" sz="4200" dirty="0"/>
          </a:p>
          <a:p>
            <a:pPr indent="0" marL="0">
              <a:lnSpc>
                <a:spcPts val="4368"/>
              </a:lnSpc>
              <a:buNone/>
            </a:pPr>
            <a:r>
              <a:rPr lang="en-US" sz="4200" b="1" spc="-105" kern="0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85783" y="3103662"/>
            <a:ext cx="4952876" cy="619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438"/>
              </a:lnSpc>
              <a:buNone/>
            </a:pPr>
            <a:r>
              <a:rPr lang="en-US" sz="1875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Designing the system around an AI coding</a:t>
            </a:r>
            <a:endParaRPr lang="en-US" sz="1875" dirty="0"/>
          </a:p>
          <a:p>
            <a:pPr indent="0" marL="0">
              <a:lnSpc>
                <a:spcPts val="2438"/>
              </a:lnSpc>
              <a:buNone/>
            </a:pPr>
            <a:r>
              <a:rPr lang="en-US" sz="1875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1875" dirty="0"/>
          </a:p>
        </p:txBody>
      </p:sp>
      <p:sp>
        <p:nvSpPr>
          <p:cNvPr id="6" name="Shape 4"/>
          <p:cNvSpPr/>
          <p:nvPr/>
        </p:nvSpPr>
        <p:spPr>
          <a:xfrm>
            <a:off x="685783" y="3951387"/>
            <a:ext cx="457189" cy="38100"/>
          </a:xfrm>
          <a:prstGeom prst="ellipse">
            <a:avLst/>
          </a:prstGeom>
          <a:solidFill>
            <a:srgbClr val="E5A84B"/>
          </a:solidFill>
          <a:ln/>
        </p:spPr>
      </p:sp>
      <p:sp>
        <p:nvSpPr>
          <p:cNvPr id="7" name="Text 5"/>
          <p:cNvSpPr/>
          <p:nvPr/>
        </p:nvSpPr>
        <p:spPr>
          <a:xfrm>
            <a:off x="685783" y="4208562"/>
            <a:ext cx="103849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idea: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85803" y="4846737"/>
            <a:ext cx="5354702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3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“ask the model to code” to a controlled engineering workflow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5803" y="5145732"/>
            <a:ext cx="5354702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3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Focus: reliability, verification, and safe iteration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892" y="1850827"/>
            <a:ext cx="4732021" cy="3518297"/>
          </a:xfrm>
          <a:prstGeom prst="roundRect">
            <a:avLst>
              <a:gd name="adj" fmla="val 1689"/>
            </a:avLst>
          </a:prstGeom>
          <a:solidFill>
            <a:srgbClr val="FFFFFF">
              <a:alpha val="66000"/>
            </a:srgbClr>
          </a:solidFill>
          <a:ln w="9525">
            <a:solidFill>
              <a:srgbClr val="17324D">
                <a:alpha val="12000"/>
              </a:srgbClr>
            </a:solidFill>
            <a:prstDash val="solid"/>
          </a:ln>
          <a:effectLst>
            <a:outerShdw sx="100000" sy="100000" kx="0" ky="0" algn="bl" rotWithShape="0" blurRad="209550" dist="57150" dir="108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012011" y="2108002"/>
            <a:ext cx="4255783" cy="12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spc="99" kern="0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SYSTEM BUILT AROUND THE AGENT</a:t>
            </a:r>
            <a:endParaRPr lang="en-US" sz="825" dirty="0"/>
          </a:p>
        </p:txBody>
      </p:sp>
      <p:sp>
        <p:nvSpPr>
          <p:cNvPr id="12" name="Text 10"/>
          <p:cNvSpPr/>
          <p:nvPr/>
        </p:nvSpPr>
        <p:spPr>
          <a:xfrm>
            <a:off x="7012011" y="2443163"/>
            <a:ext cx="1342396" cy="666750"/>
          </a:xfrm>
          <a:prstGeom prst="roundRect">
            <a:avLst>
              <a:gd name="adj" fmla="val 11428"/>
            </a:avLst>
          </a:prstGeom>
          <a:solidFill>
            <a:srgbClr val="F7FAFC"/>
          </a:solidFill>
          <a:ln w="9525">
            <a:solidFill>
              <a:srgbClr val="2F6B8A">
                <a:alpha val="28000"/>
              </a:srgbClr>
            </a:solidFill>
            <a:prstDash val="solid"/>
          </a:ln>
        </p:spPr>
        <p:txBody>
          <a:bodyPr wrap="none" lIns="114300" tIns="95250" rIns="95250" bIns="114300" rtlCol="0" anchor="ctr"/>
          <a:lstStyle/>
          <a:p>
            <a:pPr algn="ct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</a:t>
            </a:r>
            <a:endParaRPr lang="en-US" sz="1050" dirty="0"/>
          </a:p>
          <a:p>
            <a:pPr algn="ct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925397" y="2443163"/>
            <a:ext cx="1342396" cy="666750"/>
          </a:xfrm>
          <a:prstGeom prst="roundRect">
            <a:avLst>
              <a:gd name="adj" fmla="val 11428"/>
            </a:avLst>
          </a:prstGeom>
          <a:solidFill>
            <a:srgbClr val="F7FAFC"/>
          </a:solidFill>
          <a:ln w="9525">
            <a:solidFill>
              <a:srgbClr val="2F6B8A">
                <a:alpha val="28000"/>
              </a:srgbClr>
            </a:solidFill>
            <a:prstDash val="solid"/>
          </a:ln>
        </p:spPr>
        <p:txBody>
          <a:bodyPr wrap="none" lIns="114300" tIns="95250" rIns="95250" bIns="114300" rtlCol="0" anchor="ctr"/>
          <a:lstStyle/>
          <a:p>
            <a:pPr algn="ct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</a:t>
            </a:r>
            <a:endParaRPr lang="en-US" sz="1050" dirty="0"/>
          </a:p>
          <a:p>
            <a:pPr algn="ct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permissions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468704" y="3262312"/>
            <a:ext cx="1342396" cy="723900"/>
          </a:xfrm>
          <a:prstGeom prst="ellipse">
            <a:avLst/>
          </a:prstGeom>
          <a:solidFill>
            <a:srgbClr val="EAF2F6"/>
          </a:solidFill>
          <a:ln w="19050">
            <a:solidFill>
              <a:srgbClr val="2F6B8A"/>
            </a:solidFill>
            <a:prstDash val="solid"/>
          </a:ln>
        </p:spPr>
        <p:txBody>
          <a:bodyPr wrap="none" lIns="114300" tIns="95250" rIns="95250" bIns="11430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coding</a:t>
            </a:r>
            <a:endParaRPr lang="en-US" sz="1200" dirty="0"/>
          </a:p>
          <a:p>
            <a:pPr algn="ctr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012011" y="4138612"/>
            <a:ext cx="1342396" cy="666750"/>
          </a:xfrm>
          <a:prstGeom prst="roundRect">
            <a:avLst>
              <a:gd name="adj" fmla="val 11428"/>
            </a:avLst>
          </a:prstGeom>
          <a:solidFill>
            <a:srgbClr val="F7FAFC"/>
          </a:solidFill>
          <a:ln w="9525">
            <a:solidFill>
              <a:srgbClr val="2F6B8A">
                <a:alpha val="28000"/>
              </a:srgbClr>
            </a:solidFill>
            <a:prstDash val="solid"/>
          </a:ln>
        </p:spPr>
        <p:txBody>
          <a:bodyPr wrap="none" lIns="114300" tIns="95250" rIns="95250" bIns="114300" rtlCol="0" anchor="ctr"/>
          <a:lstStyle/>
          <a:p>
            <a:pPr algn="ct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1050" dirty="0"/>
          </a:p>
          <a:p>
            <a:pPr algn="ct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checks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925397" y="4138612"/>
            <a:ext cx="1342396" cy="666750"/>
          </a:xfrm>
          <a:prstGeom prst="roundRect">
            <a:avLst>
              <a:gd name="adj" fmla="val 11428"/>
            </a:avLst>
          </a:prstGeom>
          <a:solidFill>
            <a:srgbClr val="F7FAFC"/>
          </a:solidFill>
          <a:ln w="9525">
            <a:solidFill>
              <a:srgbClr val="2F6B8A">
                <a:alpha val="28000"/>
              </a:srgbClr>
            </a:solidFill>
            <a:prstDash val="solid"/>
          </a:ln>
        </p:spPr>
        <p:txBody>
          <a:bodyPr wrap="none" lIns="114300" tIns="95250" rIns="95250" bIns="114300" rtlCol="0" anchor="ctr"/>
          <a:lstStyle/>
          <a:p>
            <a:pPr algn="ct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</a:t>
            </a:r>
            <a:endParaRPr lang="en-US" sz="1050" dirty="0"/>
          </a:p>
          <a:p>
            <a:pPr algn="ct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</a:t>
            </a:r>
            <a:endParaRPr lang="en-US" sz="1050" dirty="0"/>
          </a:p>
        </p:txBody>
      </p:sp>
      <p:pic>
        <p:nvPicPr>
          <p:cNvPr id="17" name="Image 0" descr="↘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16535" y="3529012"/>
            <a:ext cx="133347" cy="190500"/>
          </a:xfrm>
          <a:prstGeom prst="rect">
            <a:avLst/>
          </a:prstGeom>
        </p:spPr>
      </p:pic>
      <p:pic>
        <p:nvPicPr>
          <p:cNvPr id="18" name="Image 1" descr="↙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0529922" y="3529012"/>
            <a:ext cx="133347" cy="190500"/>
          </a:xfrm>
          <a:prstGeom prst="rect">
            <a:avLst/>
          </a:prstGeom>
        </p:spPr>
      </p:pic>
      <p:pic>
        <p:nvPicPr>
          <p:cNvPr id="19" name="Image 2" descr="↗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616535" y="3795713"/>
            <a:ext cx="133347" cy="190500"/>
          </a:xfrm>
          <a:prstGeom prst="rect">
            <a:avLst/>
          </a:prstGeom>
        </p:spPr>
      </p:pic>
      <p:pic>
        <p:nvPicPr>
          <p:cNvPr id="20" name="Image 3" descr="↖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0529922" y="3795713"/>
            <a:ext cx="133347" cy="1905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012011" y="4995862"/>
            <a:ext cx="4255783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8B6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 arrows highlight feedback into the workflow</a:t>
            </a:r>
            <a:endParaRPr lang="en-US" sz="900" dirty="0"/>
          </a:p>
        </p:txBody>
      </p:sp>
      <p:sp>
        <p:nvSpPr>
          <p:cNvPr id="22" name="Shape 16"/>
          <p:cNvSpPr/>
          <p:nvPr/>
        </p:nvSpPr>
        <p:spPr>
          <a:xfrm>
            <a:off x="11277318" y="247650"/>
            <a:ext cx="228594" cy="228600"/>
          </a:xfrm>
          <a:prstGeom prst="roundRect">
            <a:avLst>
              <a:gd name="adj" fmla="val 200005"/>
            </a:avLst>
          </a:prstGeom>
          <a:noFill/>
          <a:ln w="9525">
            <a:solidFill>
              <a:srgbClr val="2F6B8A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11201120" y="6524625"/>
            <a:ext cx="3047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25"/>
              </a:lnSpc>
              <a:buNone/>
            </a:pPr>
            <a:r>
              <a:rPr lang="en-US" sz="825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783" y="566738"/>
            <a:ext cx="323842" cy="28575"/>
          </a:xfrm>
          <a:prstGeom prst="ellipse">
            <a:avLst/>
          </a:prstGeom>
          <a:solidFill>
            <a:srgbClr val="E5A84B"/>
          </a:solidFill>
          <a:ln/>
        </p:spPr>
      </p:sp>
      <p:sp>
        <p:nvSpPr>
          <p:cNvPr id="3" name="Text 1"/>
          <p:cNvSpPr/>
          <p:nvPr/>
        </p:nvSpPr>
        <p:spPr>
          <a:xfrm>
            <a:off x="1123922" y="518220"/>
            <a:ext cx="1553727" cy="12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90"/>
              </a:lnSpc>
              <a:buNone/>
            </a:pPr>
            <a:r>
              <a:rPr lang="en-US" sz="825" b="1" spc="116" kern="0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ENGINEERING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685783" y="876300"/>
            <a:ext cx="10820129" cy="3839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24"/>
              </a:lnSpc>
              <a:buNone/>
            </a:pPr>
            <a:r>
              <a:rPr lang="en-US" sz="2700" b="1" spc="-67" kern="0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related ideas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85783" y="1450777"/>
            <a:ext cx="3479663" cy="3868192"/>
          </a:xfrm>
          <a:prstGeom prst="roundRect">
            <a:avLst>
              <a:gd name="adj" fmla="val 1295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17324D">
                <a:alpha val="1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23902" y="1688902"/>
            <a:ext cx="3003425" cy="12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90"/>
              </a:lnSpc>
              <a:buNone/>
            </a:pPr>
            <a:r>
              <a:rPr lang="en-US" sz="825" b="1" spc="99" kern="0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THE ACTIVITY</a:t>
            </a:r>
            <a:endParaRPr lang="en-US" sz="825" dirty="0"/>
          </a:p>
        </p:txBody>
      </p:sp>
      <p:sp>
        <p:nvSpPr>
          <p:cNvPr id="7" name="Text 5"/>
          <p:cNvSpPr/>
          <p:nvPr/>
        </p:nvSpPr>
        <p:spPr>
          <a:xfrm>
            <a:off x="923902" y="1947862"/>
            <a:ext cx="3003425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coding</a:t>
            </a:r>
            <a:endParaRPr lang="en-US" sz="1575" dirty="0"/>
          </a:p>
        </p:txBody>
      </p:sp>
      <p:sp>
        <p:nvSpPr>
          <p:cNvPr id="8" name="Text 6"/>
          <p:cNvSpPr/>
          <p:nvPr/>
        </p:nvSpPr>
        <p:spPr>
          <a:xfrm>
            <a:off x="923902" y="2321123"/>
            <a:ext cx="3003425" cy="6764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1776"/>
              </a:lnSpc>
              <a:buNone/>
            </a:pPr>
            <a:r>
              <a:rPr lang="en-US" sz="120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agent carries out software tasks—</a:t>
            </a:r>
            <a:endParaRPr lang="en-US" sz="1200" dirty="0"/>
          </a:p>
          <a:p>
            <a:pPr indent="0" marL="0">
              <a:lnSpc>
                <a:spcPts val="1776"/>
              </a:lnSpc>
              <a:buNone/>
            </a:pPr>
            <a:r>
              <a:rPr lang="en-US" sz="120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such as editing files or running tests—with</a:t>
            </a:r>
            <a:endParaRPr lang="en-US" sz="1200" dirty="0"/>
          </a:p>
          <a:p>
            <a:pPr indent="0" marL="0">
              <a:lnSpc>
                <a:spcPts val="1776"/>
              </a:lnSpc>
              <a:buNone/>
            </a:pPr>
            <a:r>
              <a:rPr lang="en-US" sz="120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autonomy.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23902" y="4471243"/>
            <a:ext cx="3003425" cy="647700"/>
          </a:xfrm>
          <a:prstGeom prst="rect">
            <a:avLst/>
          </a:prstGeom>
          <a:noFill/>
          <a:ln/>
        </p:spPr>
      </p:sp>
      <p:sp>
        <p:nvSpPr>
          <p:cNvPr id="10" name="Shape 8"/>
          <p:cNvSpPr/>
          <p:nvPr/>
        </p:nvSpPr>
        <p:spPr>
          <a:xfrm>
            <a:off x="923902" y="4471243"/>
            <a:ext cx="3003425" cy="0"/>
          </a:xfrm>
          <a:prstGeom prst="line">
            <a:avLst/>
          </a:prstGeom>
          <a:noFill/>
          <a:ln w="9525">
            <a:solidFill>
              <a:srgbClr val="17324D">
                <a:alpha val="12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23902" y="4647456"/>
            <a:ext cx="419090" cy="419100"/>
          </a:xfrm>
          <a:prstGeom prst="roundRect">
            <a:avLst>
              <a:gd name="adj" fmla="val 20455"/>
            </a:avLst>
          </a:prstGeom>
          <a:solidFill>
            <a:srgbClr val="F4F8FA"/>
          </a:solidFill>
          <a:ln w="9525">
            <a:solidFill>
              <a:srgbClr val="2F6B8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350" b="1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457289" y="4720828"/>
            <a:ext cx="1422464" cy="272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1073"/>
              </a:lnSpc>
              <a:buNone/>
            </a:pPr>
            <a:r>
              <a:rPr lang="en-US" sz="825" b="1" spc="66" kern="0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</a:t>
            </a:r>
            <a:endParaRPr lang="en-US" sz="825" dirty="0"/>
          </a:p>
          <a:p>
            <a:pPr indent="0" marL="0">
              <a:lnSpc>
                <a:spcPts val="1073"/>
              </a:lnSpc>
              <a:buNone/>
            </a:pPr>
            <a:r>
              <a:rPr lang="en-US" sz="825" b="1" spc="66" kern="0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 BEING DONE</a:t>
            </a:r>
            <a:endParaRPr lang="en-US" sz="825" dirty="0"/>
          </a:p>
        </p:txBody>
      </p:sp>
      <p:sp>
        <p:nvSpPr>
          <p:cNvPr id="13" name="Shape 11"/>
          <p:cNvSpPr/>
          <p:nvPr/>
        </p:nvSpPr>
        <p:spPr>
          <a:xfrm>
            <a:off x="4355941" y="1450777"/>
            <a:ext cx="3479663" cy="3868192"/>
          </a:xfrm>
          <a:prstGeom prst="roundRect">
            <a:avLst>
              <a:gd name="adj" fmla="val 1295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E5A8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4061" y="1688902"/>
            <a:ext cx="3003425" cy="12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90"/>
              </a:lnSpc>
              <a:buNone/>
            </a:pPr>
            <a:r>
              <a:rPr lang="en-US" sz="825" b="1" spc="99" kern="0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THE CONTROL LAYER</a:t>
            </a:r>
            <a:endParaRPr lang="en-US" sz="825" dirty="0"/>
          </a:p>
        </p:txBody>
      </p:sp>
      <p:sp>
        <p:nvSpPr>
          <p:cNvPr id="15" name="Text 13"/>
          <p:cNvSpPr/>
          <p:nvPr/>
        </p:nvSpPr>
        <p:spPr>
          <a:xfrm>
            <a:off x="4594061" y="1947862"/>
            <a:ext cx="3003425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engineering</a:t>
            </a:r>
            <a:endParaRPr lang="en-US" sz="1575" dirty="0"/>
          </a:p>
        </p:txBody>
      </p:sp>
      <p:sp>
        <p:nvSpPr>
          <p:cNvPr id="16" name="Text 14"/>
          <p:cNvSpPr/>
          <p:nvPr/>
        </p:nvSpPr>
        <p:spPr>
          <a:xfrm>
            <a:off x="4594061" y="2321123"/>
            <a:ext cx="3003425" cy="6764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1776"/>
              </a:lnSpc>
              <a:buNone/>
            </a:pPr>
            <a:r>
              <a:rPr lang="en-US" sz="120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Designing the environment and controls that</a:t>
            </a:r>
            <a:endParaRPr lang="en-US" sz="1200" dirty="0"/>
          </a:p>
          <a:p>
            <a:pPr indent="0" marL="0">
              <a:lnSpc>
                <a:spcPts val="1776"/>
              </a:lnSpc>
              <a:buNone/>
            </a:pPr>
            <a:r>
              <a:rPr lang="en-US" sz="120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agent work observable, bounded, and</a:t>
            </a:r>
            <a:endParaRPr lang="en-US" sz="1200" dirty="0"/>
          </a:p>
          <a:p>
            <a:pPr indent="0" marL="0">
              <a:lnSpc>
                <a:spcPts val="1776"/>
              </a:lnSpc>
              <a:buNone/>
            </a:pPr>
            <a:r>
              <a:rPr lang="en-US" sz="120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verifiable.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94061" y="4471243"/>
            <a:ext cx="3003425" cy="647700"/>
          </a:xfrm>
          <a:prstGeom prst="rect">
            <a:avLst/>
          </a:prstGeom>
          <a:noFill/>
          <a:ln/>
        </p:spPr>
      </p:sp>
      <p:sp>
        <p:nvSpPr>
          <p:cNvPr id="18" name="Shape 16"/>
          <p:cNvSpPr/>
          <p:nvPr/>
        </p:nvSpPr>
        <p:spPr>
          <a:xfrm>
            <a:off x="4594061" y="4471243"/>
            <a:ext cx="3003425" cy="0"/>
          </a:xfrm>
          <a:prstGeom prst="line">
            <a:avLst/>
          </a:prstGeom>
          <a:noFill/>
          <a:ln w="9525">
            <a:solidFill>
              <a:srgbClr val="17324D">
                <a:alpha val="12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94061" y="4647456"/>
            <a:ext cx="419090" cy="419100"/>
          </a:xfrm>
          <a:prstGeom prst="ellipse">
            <a:avLst/>
          </a:prstGeom>
          <a:solidFill>
            <a:srgbClr val="F4F8FA"/>
          </a:solidFill>
          <a:ln w="9525">
            <a:solidFill>
              <a:srgbClr val="E5A84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35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↻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127447" y="4720828"/>
            <a:ext cx="1515032" cy="272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1073"/>
              </a:lnSpc>
              <a:buNone/>
            </a:pPr>
            <a:r>
              <a:rPr lang="en-US" sz="825" b="1" spc="66" kern="0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LOOP</a:t>
            </a:r>
            <a:endParaRPr lang="en-US" sz="825" dirty="0"/>
          </a:p>
          <a:p>
            <a:pPr indent="0" marL="0">
              <a:lnSpc>
                <a:spcPts val="1073"/>
              </a:lnSpc>
              <a:buNone/>
            </a:pPr>
            <a:r>
              <a:rPr lang="en-US" sz="825" b="1" spc="66" kern="0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GUIDE, CHECK, RESPOND</a:t>
            </a:r>
            <a:endParaRPr lang="en-US" sz="825" dirty="0"/>
          </a:p>
        </p:txBody>
      </p:sp>
      <p:sp>
        <p:nvSpPr>
          <p:cNvPr id="21" name="Shape 19"/>
          <p:cNvSpPr/>
          <p:nvPr/>
        </p:nvSpPr>
        <p:spPr>
          <a:xfrm>
            <a:off x="8026100" y="1450777"/>
            <a:ext cx="3479812" cy="3868192"/>
          </a:xfrm>
          <a:prstGeom prst="roundRect">
            <a:avLst>
              <a:gd name="adj" fmla="val 1295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17324D">
                <a:alpha val="15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64219" y="1688902"/>
            <a:ext cx="3003574" cy="12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90"/>
              </a:lnSpc>
              <a:buNone/>
            </a:pPr>
            <a:r>
              <a:rPr lang="en-US" sz="825" b="1" spc="99" kern="0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THE WIDER DISCIPLINE</a:t>
            </a:r>
            <a:endParaRPr lang="en-US" sz="825" dirty="0"/>
          </a:p>
        </p:txBody>
      </p:sp>
      <p:sp>
        <p:nvSpPr>
          <p:cNvPr id="23" name="Text 21"/>
          <p:cNvSpPr/>
          <p:nvPr/>
        </p:nvSpPr>
        <p:spPr>
          <a:xfrm>
            <a:off x="8264219" y="1947862"/>
            <a:ext cx="3003574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engineering</a:t>
            </a:r>
            <a:endParaRPr lang="en-US" sz="1575" dirty="0"/>
          </a:p>
        </p:txBody>
      </p:sp>
      <p:sp>
        <p:nvSpPr>
          <p:cNvPr id="24" name="Text 22"/>
          <p:cNvSpPr/>
          <p:nvPr/>
        </p:nvSpPr>
        <p:spPr>
          <a:xfrm>
            <a:off x="8264219" y="2321123"/>
            <a:ext cx="3003574" cy="6764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1776"/>
              </a:lnSpc>
              <a:buNone/>
            </a:pPr>
            <a:r>
              <a:rPr lang="en-US" sz="120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Designing, building, evaluating, and</a:t>
            </a:r>
            <a:endParaRPr lang="en-US" sz="1200" dirty="0"/>
          </a:p>
          <a:p>
            <a:pPr indent="0" marL="0">
              <a:lnSpc>
                <a:spcPts val="1776"/>
              </a:lnSpc>
              <a:buNone/>
            </a:pPr>
            <a:r>
              <a:rPr lang="en-US" sz="120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systems that use agents—</a:t>
            </a:r>
            <a:endParaRPr lang="en-US" sz="1200" dirty="0"/>
          </a:p>
          <a:p>
            <a:pPr indent="0" marL="0">
              <a:lnSpc>
                <a:spcPts val="1776"/>
              </a:lnSpc>
              <a:buNone/>
            </a:pPr>
            <a:r>
              <a:rPr lang="en-US" sz="120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including both the agent and its harness.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264219" y="4471243"/>
            <a:ext cx="3003574" cy="647700"/>
          </a:xfrm>
          <a:prstGeom prst="rect">
            <a:avLst/>
          </a:prstGeom>
          <a:noFill/>
          <a:ln/>
        </p:spPr>
      </p:sp>
      <p:sp>
        <p:nvSpPr>
          <p:cNvPr id="26" name="Shape 24"/>
          <p:cNvSpPr/>
          <p:nvPr/>
        </p:nvSpPr>
        <p:spPr>
          <a:xfrm>
            <a:off x="8264219" y="4471243"/>
            <a:ext cx="3003574" cy="0"/>
          </a:xfrm>
          <a:prstGeom prst="line">
            <a:avLst/>
          </a:prstGeom>
          <a:noFill/>
          <a:ln w="9525">
            <a:solidFill>
              <a:srgbClr val="17324D">
                <a:alpha val="12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64219" y="4647456"/>
            <a:ext cx="419090" cy="419100"/>
          </a:xfrm>
          <a:prstGeom prst="roundRect">
            <a:avLst>
              <a:gd name="adj" fmla="val 13636"/>
            </a:avLst>
          </a:prstGeom>
          <a:solidFill>
            <a:srgbClr val="F4F8FA"/>
          </a:solidFill>
          <a:ln w="9525">
            <a:solidFill>
              <a:srgbClr val="2F6B8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35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▦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797606" y="4720828"/>
            <a:ext cx="1590635" cy="272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1073"/>
              </a:lnSpc>
              <a:buNone/>
            </a:pPr>
            <a:r>
              <a:rPr lang="en-US" sz="825" b="1" spc="66" kern="0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SYSTEM</a:t>
            </a:r>
            <a:endParaRPr lang="en-US" sz="825" dirty="0"/>
          </a:p>
          <a:p>
            <a:pPr indent="0" marL="0">
              <a:lnSpc>
                <a:spcPts val="1073"/>
              </a:lnSpc>
              <a:buNone/>
            </a:pPr>
            <a:r>
              <a:rPr lang="en-US" sz="825" b="1" spc="66" kern="0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COMPONENTS IN CONTEXT</a:t>
            </a:r>
            <a:endParaRPr lang="en-US" sz="825" dirty="0"/>
          </a:p>
        </p:txBody>
      </p:sp>
      <p:sp>
        <p:nvSpPr>
          <p:cNvPr id="29" name="Shape 27"/>
          <p:cNvSpPr/>
          <p:nvPr/>
        </p:nvSpPr>
        <p:spPr>
          <a:xfrm>
            <a:off x="685783" y="5509468"/>
            <a:ext cx="10820129" cy="518071"/>
          </a:xfrm>
          <a:prstGeom prst="roundRect">
            <a:avLst>
              <a:gd name="adj" fmla="val 32451"/>
            </a:avLst>
          </a:prstGeom>
          <a:solidFill>
            <a:srgbClr val="17324D">
              <a:alpha val="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85783" y="5509468"/>
            <a:ext cx="0" cy="518071"/>
          </a:xfrm>
          <a:prstGeom prst="line">
            <a:avLst/>
          </a:prstGeom>
          <a:noFill/>
          <a:ln w="38100">
            <a:solidFill>
              <a:srgbClr val="E5A8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3427" y="5705624"/>
            <a:ext cx="601251" cy="12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90"/>
              </a:lnSpc>
              <a:buNone/>
            </a:pPr>
            <a:r>
              <a:rPr lang="en-US" sz="825" b="1" spc="99" kern="0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SHORT</a:t>
            </a:r>
            <a:endParaRPr lang="en-US" sz="825" dirty="0"/>
          </a:p>
        </p:txBody>
      </p:sp>
      <p:sp>
        <p:nvSpPr>
          <p:cNvPr id="32" name="Text 30"/>
          <p:cNvSpPr/>
          <p:nvPr/>
        </p:nvSpPr>
        <p:spPr>
          <a:xfrm>
            <a:off x="1725172" y="5661868"/>
            <a:ext cx="8934673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coding is an activity; harness engineering is a system-design concern; agentic engineering is the broader practice.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85783" y="6218039"/>
            <a:ext cx="10820129" cy="12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265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may use these terms differently; boundaries are not universal.</a:t>
            </a:r>
            <a:endParaRPr lang="en-US" sz="825" dirty="0"/>
          </a:p>
        </p:txBody>
      </p:sp>
      <p:sp>
        <p:nvSpPr>
          <p:cNvPr id="34" name="Shape 32"/>
          <p:cNvSpPr/>
          <p:nvPr/>
        </p:nvSpPr>
        <p:spPr>
          <a:xfrm>
            <a:off x="11277318" y="247650"/>
            <a:ext cx="228594" cy="228600"/>
          </a:xfrm>
          <a:prstGeom prst="roundRect">
            <a:avLst>
              <a:gd name="adj" fmla="val 200005"/>
            </a:avLst>
          </a:prstGeom>
          <a:noFill/>
          <a:ln w="9525">
            <a:solidFill>
              <a:srgbClr val="2F6B8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201120" y="6524625"/>
            <a:ext cx="3047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25"/>
              </a:lnSpc>
              <a:buNone/>
            </a:pPr>
            <a:r>
              <a:rPr lang="en-US" sz="825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783" y="566738"/>
            <a:ext cx="323842" cy="28575"/>
          </a:xfrm>
          <a:prstGeom prst="ellipse">
            <a:avLst/>
          </a:prstGeom>
          <a:solidFill>
            <a:srgbClr val="E5A84B"/>
          </a:solidFill>
          <a:ln/>
        </p:spPr>
      </p:sp>
      <p:sp>
        <p:nvSpPr>
          <p:cNvPr id="3" name="Text 1"/>
          <p:cNvSpPr/>
          <p:nvPr/>
        </p:nvSpPr>
        <p:spPr>
          <a:xfrm>
            <a:off x="1123922" y="518220"/>
            <a:ext cx="1553727" cy="12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90"/>
              </a:lnSpc>
              <a:buNone/>
            </a:pPr>
            <a:r>
              <a:rPr lang="en-US" sz="825" b="1" spc="116" kern="0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ENGINEERING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685783" y="876300"/>
            <a:ext cx="10820129" cy="362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6"/>
              </a:lnSpc>
              <a:buNone/>
            </a:pPr>
            <a:r>
              <a:rPr lang="en-US" sz="2550" b="1" spc="-64" kern="0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 alone is not reliability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685783" y="1391394"/>
            <a:ext cx="380990" cy="38100"/>
          </a:xfrm>
          <a:prstGeom prst="ellipse">
            <a:avLst/>
          </a:prstGeom>
          <a:solidFill>
            <a:srgbClr val="E5A84B"/>
          </a:solidFill>
          <a:ln/>
        </p:spPr>
      </p:sp>
      <p:sp>
        <p:nvSpPr>
          <p:cNvPr id="6" name="Text 4"/>
          <p:cNvSpPr/>
          <p:nvPr/>
        </p:nvSpPr>
        <p:spPr>
          <a:xfrm>
            <a:off x="685783" y="1581894"/>
            <a:ext cx="5276718" cy="419100"/>
          </a:xfrm>
          <a:prstGeom prst="rect">
            <a:avLst/>
          </a:prstGeom>
          <a:noFill/>
          <a:ln/>
        </p:spPr>
        <p:txBody>
          <a:bodyPr wrap="square" lIns="114300" tIns="152400" rIns="152400" bIns="114300" rtlCol="0" anchor="t"/>
          <a:lstStyle/>
          <a:p>
            <a:pPr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mode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783" y="2000994"/>
            <a:ext cx="5276718" cy="0"/>
          </a:xfrm>
          <a:prstGeom prst="line">
            <a:avLst/>
          </a:prstGeom>
          <a:noFill/>
          <a:ln w="19050">
            <a:solidFill>
              <a:srgbClr val="2F6B8A">
                <a:alpha val="2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783" y="2077194"/>
            <a:ext cx="5276718" cy="904577"/>
          </a:xfrm>
          <a:prstGeom prst="rect">
            <a:avLst/>
          </a:prstGeom>
          <a:noFill/>
          <a:ln/>
        </p:spPr>
      </p:sp>
      <p:sp>
        <p:nvSpPr>
          <p:cNvPr id="9" name="Shape 7"/>
          <p:cNvSpPr/>
          <p:nvPr/>
        </p:nvSpPr>
        <p:spPr>
          <a:xfrm>
            <a:off x="685783" y="2981771"/>
            <a:ext cx="5276718" cy="0"/>
          </a:xfrm>
          <a:prstGeom prst="line">
            <a:avLst/>
          </a:prstGeom>
          <a:noFill/>
          <a:ln w="9525">
            <a:solidFill>
              <a:srgbClr val="17324D">
                <a:alpha val="11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5328" y="2477095"/>
            <a:ext cx="95248" cy="95250"/>
          </a:xfrm>
          <a:prstGeom prst="ellipse">
            <a:avLst/>
          </a:prstGeom>
          <a:solidFill>
            <a:srgbClr val="E5A84B"/>
          </a:solidFill>
          <a:ln/>
        </p:spPr>
      </p:sp>
      <p:sp>
        <p:nvSpPr>
          <p:cNvPr id="11" name="Text 9"/>
          <p:cNvSpPr/>
          <p:nvPr/>
        </p:nvSpPr>
        <p:spPr>
          <a:xfrm>
            <a:off x="1162021" y="2425601"/>
            <a:ext cx="4667133" cy="198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Misses repository conventions or relevant context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783" y="2981771"/>
            <a:ext cx="5276718" cy="904726"/>
          </a:xfrm>
          <a:prstGeom prst="rect">
            <a:avLst/>
          </a:prstGeom>
          <a:noFill/>
          <a:ln/>
        </p:spPr>
      </p:sp>
      <p:sp>
        <p:nvSpPr>
          <p:cNvPr id="13" name="Shape 11"/>
          <p:cNvSpPr/>
          <p:nvPr/>
        </p:nvSpPr>
        <p:spPr>
          <a:xfrm>
            <a:off x="685783" y="3886498"/>
            <a:ext cx="5276718" cy="0"/>
          </a:xfrm>
          <a:prstGeom prst="line">
            <a:avLst/>
          </a:prstGeom>
          <a:noFill/>
          <a:ln w="9525">
            <a:solidFill>
              <a:srgbClr val="17324D">
                <a:alpha val="11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5328" y="3381673"/>
            <a:ext cx="95248" cy="95250"/>
          </a:xfrm>
          <a:prstGeom prst="ellipse">
            <a:avLst/>
          </a:prstGeom>
          <a:solidFill>
            <a:srgbClr val="E5A84B"/>
          </a:solidFill>
          <a:ln/>
        </p:spPr>
      </p:sp>
      <p:sp>
        <p:nvSpPr>
          <p:cNvPr id="15" name="Text 13"/>
          <p:cNvSpPr/>
          <p:nvPr/>
        </p:nvSpPr>
        <p:spPr>
          <a:xfrm>
            <a:off x="1162021" y="3330327"/>
            <a:ext cx="4667133" cy="198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Makes a plausible change that breaks other behavior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783" y="3886498"/>
            <a:ext cx="5276718" cy="904726"/>
          </a:xfrm>
          <a:prstGeom prst="rect">
            <a:avLst/>
          </a:prstGeom>
          <a:noFill/>
          <a:ln/>
        </p:spPr>
      </p:sp>
      <p:sp>
        <p:nvSpPr>
          <p:cNvPr id="17" name="Shape 15"/>
          <p:cNvSpPr/>
          <p:nvPr/>
        </p:nvSpPr>
        <p:spPr>
          <a:xfrm>
            <a:off x="685783" y="4791224"/>
            <a:ext cx="5276718" cy="0"/>
          </a:xfrm>
          <a:prstGeom prst="line">
            <a:avLst/>
          </a:prstGeom>
          <a:noFill/>
          <a:ln w="9525">
            <a:solidFill>
              <a:srgbClr val="17324D">
                <a:alpha val="11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95328" y="4286399"/>
            <a:ext cx="95248" cy="95250"/>
          </a:xfrm>
          <a:prstGeom prst="ellipse">
            <a:avLst/>
          </a:prstGeom>
          <a:solidFill>
            <a:srgbClr val="E5A84B"/>
          </a:solidFill>
          <a:ln/>
        </p:spPr>
      </p:sp>
      <p:sp>
        <p:nvSpPr>
          <p:cNvPr id="19" name="Text 17"/>
          <p:cNvSpPr/>
          <p:nvPr/>
        </p:nvSpPr>
        <p:spPr>
          <a:xfrm>
            <a:off x="1162021" y="4235053"/>
            <a:ext cx="4667133" cy="198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an unsafe or irrelevant command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95328" y="5191125"/>
            <a:ext cx="95248" cy="95250"/>
          </a:xfrm>
          <a:prstGeom prst="ellipse">
            <a:avLst/>
          </a:prstGeom>
          <a:solidFill>
            <a:srgbClr val="E5A84B"/>
          </a:solidFill>
          <a:ln/>
        </p:spPr>
      </p:sp>
      <p:sp>
        <p:nvSpPr>
          <p:cNvPr id="21" name="Text 19"/>
          <p:cNvSpPr/>
          <p:nvPr/>
        </p:nvSpPr>
        <p:spPr>
          <a:xfrm>
            <a:off x="1162021" y="5139779"/>
            <a:ext cx="4667133" cy="198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Stops without checking whether the change works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29194" y="1581894"/>
            <a:ext cx="5276718" cy="419100"/>
          </a:xfrm>
          <a:prstGeom prst="rect">
            <a:avLst/>
          </a:prstGeom>
          <a:noFill/>
          <a:ln/>
        </p:spPr>
        <p:txBody>
          <a:bodyPr wrap="square" lIns="114300" tIns="152400" rIns="152400" bIns="114300" rtlCol="0" anchor="t"/>
          <a:lstStyle/>
          <a:p>
            <a:pPr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response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29194" y="2000994"/>
            <a:ext cx="5276718" cy="0"/>
          </a:xfrm>
          <a:prstGeom prst="line">
            <a:avLst/>
          </a:prstGeom>
          <a:noFill/>
          <a:ln w="19050">
            <a:solidFill>
              <a:srgbClr val="2F6B8A">
                <a:alpha val="2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29194" y="2077194"/>
            <a:ext cx="5276718" cy="904577"/>
          </a:xfrm>
          <a:prstGeom prst="rect">
            <a:avLst/>
          </a:prstGeom>
          <a:noFill/>
          <a:ln/>
        </p:spPr>
      </p:sp>
      <p:sp>
        <p:nvSpPr>
          <p:cNvPr id="25" name="Shape 23"/>
          <p:cNvSpPr/>
          <p:nvPr/>
        </p:nvSpPr>
        <p:spPr>
          <a:xfrm>
            <a:off x="6229194" y="2981771"/>
            <a:ext cx="5276718" cy="0"/>
          </a:xfrm>
          <a:prstGeom prst="line">
            <a:avLst/>
          </a:prstGeom>
          <a:noFill/>
          <a:ln w="9525">
            <a:solidFill>
              <a:srgbClr val="17324D">
                <a:alpha val="11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43501" y="2481858"/>
            <a:ext cx="85723" cy="85725"/>
          </a:xfrm>
          <a:prstGeom prst="roundRect">
            <a:avLst>
              <a:gd name="adj" fmla="val 474085"/>
            </a:avLst>
          </a:prstGeom>
          <a:solidFill>
            <a:srgbClr val="2F6B8A"/>
          </a:solidFill>
          <a:ln/>
        </p:spPr>
      </p:sp>
      <p:sp>
        <p:nvSpPr>
          <p:cNvPr id="27" name="Text 25"/>
          <p:cNvSpPr/>
          <p:nvPr/>
        </p:nvSpPr>
        <p:spPr>
          <a:xfrm>
            <a:off x="6705432" y="2425601"/>
            <a:ext cx="4667133" cy="198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 relevant context and scoped access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29194" y="2981771"/>
            <a:ext cx="5276718" cy="904726"/>
          </a:xfrm>
          <a:prstGeom prst="rect">
            <a:avLst/>
          </a:prstGeom>
          <a:noFill/>
          <a:ln/>
        </p:spPr>
      </p:sp>
      <p:sp>
        <p:nvSpPr>
          <p:cNvPr id="29" name="Shape 27"/>
          <p:cNvSpPr/>
          <p:nvPr/>
        </p:nvSpPr>
        <p:spPr>
          <a:xfrm>
            <a:off x="6229194" y="3886498"/>
            <a:ext cx="5276718" cy="0"/>
          </a:xfrm>
          <a:prstGeom prst="line">
            <a:avLst/>
          </a:prstGeom>
          <a:noFill/>
          <a:ln w="9525">
            <a:solidFill>
              <a:srgbClr val="17324D">
                <a:alpha val="11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43501" y="3386435"/>
            <a:ext cx="85723" cy="85725"/>
          </a:xfrm>
          <a:prstGeom prst="roundRect">
            <a:avLst>
              <a:gd name="adj" fmla="val 474085"/>
            </a:avLst>
          </a:prstGeom>
          <a:solidFill>
            <a:srgbClr val="2F6B8A"/>
          </a:solidFill>
          <a:ln/>
        </p:spPr>
      </p:sp>
      <p:sp>
        <p:nvSpPr>
          <p:cNvPr id="31" name="Text 29"/>
          <p:cNvSpPr/>
          <p:nvPr/>
        </p:nvSpPr>
        <p:spPr>
          <a:xfrm>
            <a:off x="6705432" y="3330327"/>
            <a:ext cx="4667133" cy="198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automated tests and show clear feedback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229194" y="3886498"/>
            <a:ext cx="5276718" cy="904726"/>
          </a:xfrm>
          <a:prstGeom prst="rect">
            <a:avLst/>
          </a:prstGeom>
          <a:noFill/>
          <a:ln/>
        </p:spPr>
      </p:sp>
      <p:sp>
        <p:nvSpPr>
          <p:cNvPr id="33" name="Shape 31"/>
          <p:cNvSpPr/>
          <p:nvPr/>
        </p:nvSpPr>
        <p:spPr>
          <a:xfrm>
            <a:off x="6229194" y="4791224"/>
            <a:ext cx="5276718" cy="0"/>
          </a:xfrm>
          <a:prstGeom prst="line">
            <a:avLst/>
          </a:prstGeom>
          <a:noFill/>
          <a:ln w="9525">
            <a:solidFill>
              <a:srgbClr val="17324D">
                <a:alpha val="11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43501" y="4291161"/>
            <a:ext cx="85723" cy="85725"/>
          </a:xfrm>
          <a:prstGeom prst="roundRect">
            <a:avLst>
              <a:gd name="adj" fmla="val 474085"/>
            </a:avLst>
          </a:prstGeom>
          <a:solidFill>
            <a:srgbClr val="2F6B8A"/>
          </a:solidFill>
          <a:ln/>
        </p:spPr>
      </p:sp>
      <p:sp>
        <p:nvSpPr>
          <p:cNvPr id="35" name="Text 33"/>
          <p:cNvSpPr/>
          <p:nvPr/>
        </p:nvSpPr>
        <p:spPr>
          <a:xfrm>
            <a:off x="6705432" y="4235053"/>
            <a:ext cx="4667133" cy="198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 tools and define operating rules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443501" y="5195887"/>
            <a:ext cx="85723" cy="85725"/>
          </a:xfrm>
          <a:prstGeom prst="roundRect">
            <a:avLst>
              <a:gd name="adj" fmla="val 474085"/>
            </a:avLst>
          </a:prstGeom>
          <a:solidFill>
            <a:srgbClr val="2F6B8A"/>
          </a:solidFill>
          <a:ln/>
        </p:spPr>
      </p:sp>
      <p:sp>
        <p:nvSpPr>
          <p:cNvPr id="37" name="Text 35"/>
          <p:cNvSpPr/>
          <p:nvPr/>
        </p:nvSpPr>
        <p:spPr>
          <a:xfrm>
            <a:off x="6705432" y="5139779"/>
            <a:ext cx="4667133" cy="198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 checks and human review for consequential decisions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85783" y="5838825"/>
            <a:ext cx="10820129" cy="504825"/>
          </a:xfrm>
          <a:prstGeom prst="roundRect">
            <a:avLst>
              <a:gd name="adj" fmla="val 54681"/>
            </a:avLst>
          </a:prstGeom>
          <a:solidFill>
            <a:srgbClr val="17324D">
              <a:alpha val="6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85783" y="5838825"/>
            <a:ext cx="0" cy="504825"/>
          </a:xfrm>
          <a:prstGeom prst="line">
            <a:avLst/>
          </a:prstGeom>
          <a:noFill/>
          <a:ln w="38100">
            <a:solidFill>
              <a:srgbClr val="E5A84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377" y="5981700"/>
            <a:ext cx="533163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harness shapes what the agent can know, do, and prove.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398408" y="6019800"/>
            <a:ext cx="27117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reduces risk; it does not guarantee correctness.</a:t>
            </a:r>
            <a:endParaRPr lang="en-US" sz="975" dirty="0"/>
          </a:p>
        </p:txBody>
      </p:sp>
      <p:sp>
        <p:nvSpPr>
          <p:cNvPr id="42" name="Shape 40"/>
          <p:cNvSpPr/>
          <p:nvPr/>
        </p:nvSpPr>
        <p:spPr>
          <a:xfrm>
            <a:off x="11277318" y="247650"/>
            <a:ext cx="228594" cy="228600"/>
          </a:xfrm>
          <a:prstGeom prst="roundRect">
            <a:avLst>
              <a:gd name="adj" fmla="val 200005"/>
            </a:avLst>
          </a:prstGeom>
          <a:noFill/>
          <a:ln w="9525">
            <a:solidFill>
              <a:srgbClr val="2F6B8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1201120" y="6524625"/>
            <a:ext cx="3047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25"/>
              </a:lnSpc>
              <a:buNone/>
            </a:pPr>
            <a:r>
              <a:rPr lang="en-US" sz="825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783" y="566738"/>
            <a:ext cx="323842" cy="28575"/>
          </a:xfrm>
          <a:prstGeom prst="ellipse">
            <a:avLst/>
          </a:prstGeom>
          <a:solidFill>
            <a:srgbClr val="E5A84B"/>
          </a:solidFill>
          <a:ln/>
        </p:spPr>
      </p:sp>
      <p:sp>
        <p:nvSpPr>
          <p:cNvPr id="3" name="Text 1"/>
          <p:cNvSpPr/>
          <p:nvPr/>
        </p:nvSpPr>
        <p:spPr>
          <a:xfrm>
            <a:off x="1123922" y="518220"/>
            <a:ext cx="1553727" cy="12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90"/>
              </a:lnSpc>
              <a:buNone/>
            </a:pPr>
            <a:r>
              <a:rPr lang="en-US" sz="825" b="1" spc="116" kern="0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ENGINEERING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685783" y="876300"/>
            <a:ext cx="10820129" cy="362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6"/>
              </a:lnSpc>
              <a:buNone/>
            </a:pPr>
            <a:r>
              <a:rPr lang="en-US" sz="2550" b="1" spc="-64" kern="0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practical harness has several layers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685783" y="1391394"/>
            <a:ext cx="10820129" cy="5238006"/>
          </a:xfrm>
          <a:prstGeom prst="roundRect">
            <a:avLst>
              <a:gd name="adj" fmla="val 762"/>
            </a:avLst>
          </a:prstGeom>
          <a:solidFill>
            <a:srgbClr val="FFFFFF">
              <a:alpha val="48000"/>
            </a:srgbClr>
          </a:solidFill>
          <a:ln w="9525">
            <a:solidFill>
              <a:srgbClr val="17324D">
                <a:alpha val="12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95748" y="1553319"/>
            <a:ext cx="2000200" cy="495300"/>
          </a:xfrm>
          <a:prstGeom prst="roundRect">
            <a:avLst>
              <a:gd name="adj" fmla="val 38461"/>
            </a:avLst>
          </a:prstGeom>
          <a:solidFill>
            <a:srgbClr val="FFF9EE"/>
          </a:solidFill>
          <a:ln w="9525">
            <a:solidFill>
              <a:srgbClr val="E5A84B">
                <a:alpha val="70000"/>
              </a:srgbClr>
            </a:solidFill>
            <a:prstDash val="solid"/>
          </a:ln>
        </p:spPr>
        <p:txBody>
          <a:bodyPr wrap="none" lIns="85725" tIns="171450" rIns="171450" bIns="85725" rtlCol="0" anchor="t"/>
          <a:lstStyle/>
          <a:p>
            <a:pPr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reviewer ·</a:t>
            </a:r>
            <a:endParaRPr lang="en-US" sz="1050" dirty="0"/>
          </a:p>
          <a:p>
            <a:pPr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&amp; direction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85803" y="3114675"/>
            <a:ext cx="4019450" cy="568523"/>
          </a:xfrm>
          <a:prstGeom prst="roundRect">
            <a:avLst>
              <a:gd name="adj" fmla="val 43115"/>
            </a:avLst>
          </a:prstGeom>
          <a:solidFill>
            <a:srgbClr val="FFFFFF">
              <a:alpha val="88000"/>
            </a:srgbClr>
          </a:solidFill>
          <a:ln w="9525">
            <a:solidFill>
              <a:srgbClr val="2F6B8A">
                <a:alpha val="23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8674" y="3275112"/>
            <a:ext cx="247644" cy="247650"/>
          </a:xfrm>
          <a:prstGeom prst="ellipse">
            <a:avLst/>
          </a:prstGeom>
          <a:solidFill>
            <a:srgbClr val="E8F0F4"/>
          </a:solidFill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90615" y="3219450"/>
            <a:ext cx="1823545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&amp; policy</a:t>
            </a:r>
            <a:endParaRPr lang="en-US" sz="1125" dirty="0"/>
          </a:p>
        </p:txBody>
      </p:sp>
      <p:sp>
        <p:nvSpPr>
          <p:cNvPr id="10" name="Shape 8"/>
          <p:cNvSpPr/>
          <p:nvPr/>
        </p:nvSpPr>
        <p:spPr>
          <a:xfrm>
            <a:off x="885803" y="3768923"/>
            <a:ext cx="4019450" cy="568523"/>
          </a:xfrm>
          <a:prstGeom prst="roundRect">
            <a:avLst>
              <a:gd name="adj" fmla="val 43115"/>
            </a:avLst>
          </a:prstGeom>
          <a:solidFill>
            <a:srgbClr val="FFFFFF">
              <a:alpha val="88000"/>
            </a:srgbClr>
          </a:solidFill>
          <a:ln w="9525">
            <a:solidFill>
              <a:srgbClr val="2F6B8A">
                <a:alpha val="23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8674" y="3929360"/>
            <a:ext cx="247644" cy="247650"/>
          </a:xfrm>
          <a:prstGeom prst="ellipse">
            <a:avLst/>
          </a:prstGeom>
          <a:solidFill>
            <a:srgbClr val="E8F0F4"/>
          </a:solidFill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90615" y="3873698"/>
            <a:ext cx="173187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125" dirty="0"/>
          </a:p>
        </p:txBody>
      </p:sp>
      <p:sp>
        <p:nvSpPr>
          <p:cNvPr id="13" name="Shape 11"/>
          <p:cNvSpPr/>
          <p:nvPr/>
        </p:nvSpPr>
        <p:spPr>
          <a:xfrm>
            <a:off x="885803" y="4423172"/>
            <a:ext cx="4019450" cy="568523"/>
          </a:xfrm>
          <a:prstGeom prst="roundRect">
            <a:avLst>
              <a:gd name="adj" fmla="val 43115"/>
            </a:avLst>
          </a:prstGeom>
          <a:solidFill>
            <a:srgbClr val="FFFFFF">
              <a:alpha val="88000"/>
            </a:srgbClr>
          </a:solidFill>
          <a:ln w="9525">
            <a:solidFill>
              <a:srgbClr val="2F6B8A">
                <a:alpha val="23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8674" y="4583609"/>
            <a:ext cx="247644" cy="247650"/>
          </a:xfrm>
          <a:prstGeom prst="ellipse">
            <a:avLst/>
          </a:prstGeom>
          <a:solidFill>
            <a:srgbClr val="E8F0F4"/>
          </a:solidFill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390615" y="4527947"/>
            <a:ext cx="2193821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5508140" y="2954238"/>
            <a:ext cx="1175415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approval / feedback ↓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19590" y="3222724"/>
            <a:ext cx="1352516" cy="1352550"/>
          </a:xfrm>
          <a:prstGeom prst="roundRect">
            <a:avLst>
              <a:gd name="adj" fmla="val 47611"/>
            </a:avLst>
          </a:prstGeom>
          <a:solidFill>
            <a:srgbClr val="E9F2F6"/>
          </a:solidFill>
          <a:ln w="19050">
            <a:solidFill>
              <a:srgbClr val="2F6B8A"/>
            </a:solidFill>
            <a:prstDash val="solid"/>
          </a:ln>
          <a:effectLst>
            <a:outerShdw sx="100000" sy="100000" kx="0" ky="0" algn="bl" rotWithShape="0" blurRad="133350" dist="38100" dir="10800000">
              <a:srgbClr val="000000">
                <a:alpha val="5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825880" y="3698974"/>
            <a:ext cx="53978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727210" y="3965674"/>
            <a:ext cx="73712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plans and acts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404558" y="4699099"/>
            <a:ext cx="13825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within the harness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86443" y="3114675"/>
            <a:ext cx="4019450" cy="568523"/>
          </a:xfrm>
          <a:prstGeom prst="roundRect">
            <a:avLst>
              <a:gd name="adj" fmla="val 43115"/>
            </a:avLst>
          </a:prstGeom>
          <a:solidFill>
            <a:srgbClr val="FFFFFF">
              <a:alpha val="88000"/>
            </a:srgbClr>
          </a:solidFill>
          <a:ln w="9525">
            <a:solidFill>
              <a:srgbClr val="2F6B8A">
                <a:alpha val="23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29314" y="3275112"/>
            <a:ext cx="247644" cy="247650"/>
          </a:xfrm>
          <a:prstGeom prst="ellipse">
            <a:avLst/>
          </a:prstGeom>
          <a:solidFill>
            <a:srgbClr val="E8F0F4"/>
          </a:solidFill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791255" y="3219450"/>
            <a:ext cx="249013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7286443" y="3768923"/>
            <a:ext cx="4019450" cy="568523"/>
          </a:xfrm>
          <a:prstGeom prst="roundRect">
            <a:avLst>
              <a:gd name="adj" fmla="val 43115"/>
            </a:avLst>
          </a:prstGeom>
          <a:solidFill>
            <a:srgbClr val="FFFFFF">
              <a:alpha val="88000"/>
            </a:srgbClr>
          </a:solidFill>
          <a:ln w="9525">
            <a:solidFill>
              <a:srgbClr val="2F6B8A">
                <a:alpha val="23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29314" y="3929360"/>
            <a:ext cx="247644" cy="247650"/>
          </a:xfrm>
          <a:prstGeom prst="ellipse">
            <a:avLst/>
          </a:prstGeom>
          <a:solidFill>
            <a:srgbClr val="E8F0F4"/>
          </a:solidFill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791255" y="3873698"/>
            <a:ext cx="2045294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7286443" y="4423172"/>
            <a:ext cx="4019450" cy="568523"/>
          </a:xfrm>
          <a:prstGeom prst="roundRect">
            <a:avLst>
              <a:gd name="adj" fmla="val 43115"/>
            </a:avLst>
          </a:prstGeom>
          <a:solidFill>
            <a:srgbClr val="FFFFFF">
              <a:alpha val="88000"/>
            </a:srgbClr>
          </a:solidFill>
          <a:ln w="9525">
            <a:solidFill>
              <a:srgbClr val="2F6B8A">
                <a:alpha val="23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29314" y="4583609"/>
            <a:ext cx="247644" cy="247650"/>
          </a:xfrm>
          <a:prstGeom prst="ellipse">
            <a:avLst/>
          </a:prstGeom>
          <a:solidFill>
            <a:srgbClr val="E8F0F4"/>
          </a:solidFill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91255" y="4527947"/>
            <a:ext cx="1850631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Observability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885803" y="6057900"/>
            <a:ext cx="10420089" cy="409575"/>
          </a:xfrm>
          <a:prstGeom prst="rect">
            <a:avLst/>
          </a:prstGeom>
          <a:noFill/>
          <a:ln/>
        </p:spPr>
      </p:sp>
      <p:sp>
        <p:nvSpPr>
          <p:cNvPr id="31" name="Shape 29"/>
          <p:cNvSpPr/>
          <p:nvPr/>
        </p:nvSpPr>
        <p:spPr>
          <a:xfrm>
            <a:off x="885803" y="6057900"/>
            <a:ext cx="10420089" cy="0"/>
          </a:xfrm>
          <a:prstGeom prst="line">
            <a:avLst/>
          </a:prstGeom>
          <a:noFill/>
          <a:ln w="9525">
            <a:solidFill>
              <a:srgbClr val="17324D">
                <a:alpha val="13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95984" y="6262688"/>
            <a:ext cx="9697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90"/>
              </a:lnSpc>
              <a:buNone/>
            </a:pPr>
            <a:r>
              <a:rPr lang="en-US" sz="825" b="1" spc="83" kern="0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LOOP</a:t>
            </a:r>
            <a:endParaRPr lang="en-US" sz="825" dirty="0"/>
          </a:p>
        </p:txBody>
      </p:sp>
      <p:sp>
        <p:nvSpPr>
          <p:cNvPr id="33" name="Text 31"/>
          <p:cNvSpPr/>
          <p:nvPr/>
        </p:nvSpPr>
        <p:spPr>
          <a:xfrm>
            <a:off x="4137170" y="6172200"/>
            <a:ext cx="781477" cy="295275"/>
          </a:xfrm>
          <a:prstGeom prst="ellipse">
            <a:avLst/>
          </a:prstGeom>
          <a:solidFill>
            <a:srgbClr val="EAF1F4"/>
          </a:solidFill>
          <a:ln/>
        </p:spPr>
        <p:txBody>
          <a:bodyPr wrap="square" lIns="76200" tIns="142875" rIns="142875" bIns="76200" rtlCol="0" anchor="t"/>
          <a:lstStyle/>
          <a:p>
            <a:pPr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</a:t>
            </a:r>
            <a:endParaRPr lang="en-US" sz="975" dirty="0"/>
          </a:p>
        </p:txBody>
      </p:sp>
      <p:sp>
        <p:nvSpPr>
          <p:cNvPr id="34" name="Text 32"/>
          <p:cNvSpPr/>
          <p:nvPr/>
        </p:nvSpPr>
        <p:spPr>
          <a:xfrm>
            <a:off x="5013894" y="6219825"/>
            <a:ext cx="17144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E5A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5280588" y="6172200"/>
            <a:ext cx="547376" cy="295275"/>
          </a:xfrm>
          <a:prstGeom prst="ellipse">
            <a:avLst/>
          </a:prstGeom>
          <a:solidFill>
            <a:srgbClr val="EAF1F4"/>
          </a:solidFill>
          <a:ln/>
        </p:spPr>
        <p:txBody>
          <a:bodyPr wrap="square" lIns="76200" tIns="142875" rIns="142875" bIns="76200" rtlCol="0" anchor="t"/>
          <a:lstStyle/>
          <a:p>
            <a:pPr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75" dirty="0"/>
          </a:p>
        </p:txBody>
      </p:sp>
      <p:sp>
        <p:nvSpPr>
          <p:cNvPr id="36" name="Text 34"/>
          <p:cNvSpPr/>
          <p:nvPr/>
        </p:nvSpPr>
        <p:spPr>
          <a:xfrm>
            <a:off x="5923211" y="6219825"/>
            <a:ext cx="17144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E5A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6189905" y="6172200"/>
            <a:ext cx="485316" cy="295275"/>
          </a:xfrm>
          <a:prstGeom prst="ellipse">
            <a:avLst/>
          </a:prstGeom>
          <a:solidFill>
            <a:srgbClr val="EAF1F4"/>
          </a:solidFill>
          <a:ln/>
        </p:spPr>
        <p:txBody>
          <a:bodyPr wrap="square" lIns="76200" tIns="142875" rIns="142875" bIns="76200" rtlCol="0" anchor="t"/>
          <a:lstStyle/>
          <a:p>
            <a:pPr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</a:t>
            </a:r>
            <a:endParaRPr lang="en-US" sz="975" dirty="0"/>
          </a:p>
        </p:txBody>
      </p:sp>
      <p:sp>
        <p:nvSpPr>
          <p:cNvPr id="38" name="Text 36"/>
          <p:cNvSpPr/>
          <p:nvPr/>
        </p:nvSpPr>
        <p:spPr>
          <a:xfrm>
            <a:off x="6770469" y="6219825"/>
            <a:ext cx="17144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E5A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037162" y="6172200"/>
            <a:ext cx="657506" cy="295275"/>
          </a:xfrm>
          <a:prstGeom prst="ellipse">
            <a:avLst/>
          </a:prstGeom>
          <a:solidFill>
            <a:srgbClr val="EAF1F4"/>
          </a:solidFill>
          <a:ln/>
        </p:spPr>
        <p:txBody>
          <a:bodyPr wrap="square" lIns="76200" tIns="142875" rIns="142875" bIns="76200" rtlCol="0" anchor="t"/>
          <a:lstStyle/>
          <a:p>
            <a:pPr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</a:t>
            </a:r>
            <a:endParaRPr lang="en-US" sz="975" dirty="0"/>
          </a:p>
        </p:txBody>
      </p:sp>
      <p:sp>
        <p:nvSpPr>
          <p:cNvPr id="40" name="Text 38"/>
          <p:cNvSpPr/>
          <p:nvPr/>
        </p:nvSpPr>
        <p:spPr>
          <a:xfrm>
            <a:off x="7789916" y="6219825"/>
            <a:ext cx="17144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E5A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8056609" y="6172200"/>
            <a:ext cx="1139102" cy="295275"/>
          </a:xfrm>
          <a:prstGeom prst="ellipse">
            <a:avLst/>
          </a:prstGeom>
          <a:solidFill>
            <a:srgbClr val="EAF1F4"/>
          </a:solidFill>
          <a:ln/>
        </p:spPr>
        <p:txBody>
          <a:bodyPr wrap="square" lIns="76200" tIns="142875" rIns="142875" bIns="76200" rtlCol="0" anchor="t"/>
          <a:lstStyle/>
          <a:p>
            <a:pPr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 or stop</a:t>
            </a:r>
            <a:endParaRPr lang="en-US" sz="975" dirty="0"/>
          </a:p>
        </p:txBody>
      </p:sp>
      <p:sp>
        <p:nvSpPr>
          <p:cNvPr id="42" name="Shape 40"/>
          <p:cNvSpPr/>
          <p:nvPr/>
        </p:nvSpPr>
        <p:spPr>
          <a:xfrm>
            <a:off x="11277318" y="247650"/>
            <a:ext cx="228594" cy="228600"/>
          </a:xfrm>
          <a:prstGeom prst="roundRect">
            <a:avLst>
              <a:gd name="adj" fmla="val 200005"/>
            </a:avLst>
          </a:prstGeom>
          <a:noFill/>
          <a:ln w="9525">
            <a:solidFill>
              <a:srgbClr val="2F6B8A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783" y="566738"/>
            <a:ext cx="323842" cy="28575"/>
          </a:xfrm>
          <a:prstGeom prst="ellipse">
            <a:avLst/>
          </a:prstGeom>
          <a:solidFill>
            <a:srgbClr val="E5A84B"/>
          </a:solidFill>
          <a:ln/>
        </p:spPr>
      </p:sp>
      <p:sp>
        <p:nvSpPr>
          <p:cNvPr id="3" name="Text 1"/>
          <p:cNvSpPr/>
          <p:nvPr/>
        </p:nvSpPr>
        <p:spPr>
          <a:xfrm>
            <a:off x="1123922" y="518220"/>
            <a:ext cx="1553727" cy="12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90"/>
              </a:lnSpc>
              <a:buNone/>
            </a:pPr>
            <a:r>
              <a:rPr lang="en-US" sz="825" b="1" spc="116" kern="0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ENGINEERING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685783" y="876300"/>
            <a:ext cx="10820129" cy="362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6"/>
              </a:lnSpc>
              <a:buNone/>
            </a:pPr>
            <a:r>
              <a:rPr lang="en-US" sz="2550" b="1" spc="-64" kern="0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 the agent’s working environment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685783" y="1410444"/>
            <a:ext cx="5305292" cy="4276576"/>
          </a:xfrm>
          <a:prstGeom prst="roundRect">
            <a:avLst>
              <a:gd name="adj" fmla="val 762"/>
            </a:avLst>
          </a:prstGeom>
          <a:solidFill>
            <a:srgbClr val="FFFFFF">
              <a:alpha val="78000"/>
            </a:srgbClr>
          </a:solidFill>
          <a:ln w="9525">
            <a:solidFill>
              <a:srgbClr val="17324D">
                <a:alpha val="14000"/>
              </a:srgbClr>
            </a:solidFill>
            <a:prstDash val="solid"/>
          </a:ln>
          <a:effectLst>
            <a:outerShdw sx="100000" sy="100000" kx="0" ky="0" algn="bl" rotWithShape="0" blurRad="114300" dist="28575" dir="10800000">
              <a:srgbClr val="00000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04852" y="1610469"/>
            <a:ext cx="228594" cy="228600"/>
          </a:xfrm>
          <a:prstGeom prst="roundRect">
            <a:avLst>
              <a:gd name="adj" fmla="val 25000"/>
            </a:avLst>
          </a:prstGeom>
          <a:solidFill>
            <a:srgbClr val="2F6B8A">
              <a:alpha val="12000"/>
            </a:srgbClr>
          </a:solidFill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75"/>
              </a:lnSpc>
              <a:buNone/>
            </a:pPr>
            <a:r>
              <a:rPr lang="en-US" sz="975" b="1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75" dirty="0"/>
          </a:p>
        </p:txBody>
      </p:sp>
      <p:sp>
        <p:nvSpPr>
          <p:cNvPr id="7" name="Text 5"/>
          <p:cNvSpPr/>
          <p:nvPr/>
        </p:nvSpPr>
        <p:spPr>
          <a:xfrm>
            <a:off x="971526" y="1972419"/>
            <a:ext cx="4733807" cy="409575"/>
          </a:xfrm>
          <a:prstGeom prst="roundRect">
            <a:avLst>
              <a:gd name="adj" fmla="val 13953"/>
            </a:avLst>
          </a:prstGeom>
          <a:solidFill>
            <a:srgbClr val="EDF3F6"/>
          </a:solidFill>
          <a:ln w="9525">
            <a:solidFill>
              <a:srgbClr val="2F6B8A">
                <a:alpha val="23000"/>
              </a:srgbClr>
            </a:solidFill>
            <a:prstDash val="solid"/>
          </a:ln>
        </p:spPr>
        <p:txBody>
          <a:bodyPr wrap="square" lIns="76200" tIns="123825" rIns="123825" bIns="76200" rtlCol="0" anchor="ctr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information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90805" y="2429619"/>
            <a:ext cx="95248" cy="57150"/>
          </a:xfrm>
          <a:prstGeom prst="rect">
            <a:avLst/>
          </a:prstGeom>
          <a:noFill/>
          <a:ln/>
        </p:spPr>
      </p:sp>
      <p:sp>
        <p:nvSpPr>
          <p:cNvPr id="9" name="Shape 7"/>
          <p:cNvSpPr/>
          <p:nvPr/>
        </p:nvSpPr>
        <p:spPr>
          <a:xfrm>
            <a:off x="3290805" y="2429619"/>
            <a:ext cx="95248" cy="0"/>
          </a:xfrm>
          <a:prstGeom prst="line">
            <a:avLst/>
          </a:prstGeom>
          <a:noFill/>
          <a:ln w="57150">
            <a:solidFill>
              <a:srgbClr val="2F6B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00140" y="2543919"/>
            <a:ext cx="3876578" cy="409575"/>
          </a:xfrm>
          <a:prstGeom prst="roundRect">
            <a:avLst>
              <a:gd name="adj" fmla="val 13953"/>
            </a:avLst>
          </a:prstGeom>
          <a:solidFill>
            <a:srgbClr val="E5EEF2"/>
          </a:solidFill>
          <a:ln w="9525">
            <a:solidFill>
              <a:srgbClr val="2F6B8A">
                <a:alpha val="34000"/>
              </a:srgbClr>
            </a:solidFill>
            <a:prstDash val="solid"/>
          </a:ln>
        </p:spPr>
        <p:txBody>
          <a:bodyPr wrap="square" lIns="76200" tIns="123825" rIns="123825" bIns="76200" rtlCol="0" anchor="ctr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Relevant files &amp; conventions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90805" y="3001119"/>
            <a:ext cx="95248" cy="57150"/>
          </a:xfrm>
          <a:prstGeom prst="rect">
            <a:avLst/>
          </a:prstGeom>
          <a:noFill/>
          <a:ln/>
        </p:spPr>
      </p:sp>
      <p:sp>
        <p:nvSpPr>
          <p:cNvPr id="12" name="Shape 10"/>
          <p:cNvSpPr/>
          <p:nvPr/>
        </p:nvSpPr>
        <p:spPr>
          <a:xfrm>
            <a:off x="3290805" y="3001119"/>
            <a:ext cx="95248" cy="0"/>
          </a:xfrm>
          <a:prstGeom prst="line">
            <a:avLst/>
          </a:prstGeom>
          <a:noFill/>
          <a:ln w="57150">
            <a:solidFill>
              <a:srgbClr val="2F6B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1526" y="3115419"/>
            <a:ext cx="4733807" cy="409575"/>
          </a:xfrm>
          <a:prstGeom prst="roundRect">
            <a:avLst>
              <a:gd name="adj" fmla="val 13953"/>
            </a:avLst>
          </a:prstGeom>
          <a:solidFill>
            <a:srgbClr val="EDF3F6"/>
          </a:solidFill>
          <a:ln w="9525">
            <a:solidFill>
              <a:srgbClr val="2F6B8A">
                <a:alpha val="23000"/>
              </a:srgbClr>
            </a:solidFill>
            <a:prstDash val="solid"/>
          </a:ln>
        </p:spPr>
        <p:txBody>
          <a:bodyPr wrap="square" lIns="76200" tIns="123825" rIns="123825" bIns="76200" rtlCol="0" anchor="ctr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constraints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90805" y="3572619"/>
            <a:ext cx="95248" cy="57150"/>
          </a:xfrm>
          <a:prstGeom prst="rect">
            <a:avLst/>
          </a:prstGeom>
          <a:noFill/>
          <a:ln/>
        </p:spPr>
      </p:sp>
      <p:sp>
        <p:nvSpPr>
          <p:cNvPr id="15" name="Shape 13"/>
          <p:cNvSpPr/>
          <p:nvPr/>
        </p:nvSpPr>
        <p:spPr>
          <a:xfrm>
            <a:off x="3290805" y="3572619"/>
            <a:ext cx="95248" cy="0"/>
          </a:xfrm>
          <a:prstGeom prst="line">
            <a:avLst/>
          </a:prstGeom>
          <a:noFill/>
          <a:ln w="57150">
            <a:solidFill>
              <a:srgbClr val="2F6B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1526" y="3686919"/>
            <a:ext cx="4733807" cy="409575"/>
          </a:xfrm>
          <a:prstGeom prst="roundRect">
            <a:avLst>
              <a:gd name="adj" fmla="val 13953"/>
            </a:avLst>
          </a:prstGeom>
          <a:solidFill>
            <a:srgbClr val="EDF3F6"/>
          </a:solidFill>
          <a:ln w="9525">
            <a:solidFill>
              <a:srgbClr val="2F6B8A">
                <a:alpha val="23000"/>
              </a:srgbClr>
            </a:solidFill>
            <a:prstDash val="solid"/>
          </a:ln>
        </p:spPr>
        <p:txBody>
          <a:bodyPr wrap="square" lIns="76200" tIns="123825" rIns="123825" bIns="76200" rtlCol="0" anchor="ctr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Sufficient working context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04852" y="4229844"/>
            <a:ext cx="4867153" cy="373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4051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information that is relevant and current—not simply less information. Make</a:t>
            </a:r>
            <a:endParaRPr lang="en-US" sz="1050" dirty="0"/>
          </a:p>
          <a:p>
            <a:pPr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4051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assumptions and unknowns visible.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00620" y="1410444"/>
            <a:ext cx="5305292" cy="4276576"/>
          </a:xfrm>
          <a:prstGeom prst="roundRect">
            <a:avLst>
              <a:gd name="adj" fmla="val 762"/>
            </a:avLst>
          </a:prstGeom>
          <a:solidFill>
            <a:srgbClr val="FFFFFF">
              <a:alpha val="78000"/>
            </a:srgbClr>
          </a:solidFill>
          <a:ln w="9525">
            <a:solidFill>
              <a:srgbClr val="17324D">
                <a:alpha val="14000"/>
              </a:srgbClr>
            </a:solidFill>
            <a:prstDash val="solid"/>
          </a:ln>
          <a:effectLst>
            <a:outerShdw sx="100000" sy="100000" kx="0" ky="0" algn="bl" rotWithShape="0" blurRad="114300" dist="28575" dir="10800000">
              <a:srgbClr val="000000">
                <a:alpha val="5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19690" y="1610469"/>
            <a:ext cx="228594" cy="228600"/>
          </a:xfrm>
          <a:prstGeom prst="roundRect">
            <a:avLst>
              <a:gd name="adj" fmla="val 25000"/>
            </a:avLst>
          </a:prstGeom>
          <a:solidFill>
            <a:srgbClr val="2F6B8A">
              <a:alpha val="12000"/>
            </a:srgbClr>
          </a:solidFill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75"/>
              </a:lnSpc>
              <a:buNone/>
            </a:pPr>
            <a:r>
              <a:rPr lang="en-US" sz="975" b="1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75" dirty="0"/>
          </a:p>
        </p:txBody>
      </p:sp>
      <p:sp>
        <p:nvSpPr>
          <p:cNvPr id="20" name="Shape 18"/>
          <p:cNvSpPr/>
          <p:nvPr/>
        </p:nvSpPr>
        <p:spPr>
          <a:xfrm>
            <a:off x="6419690" y="1972419"/>
            <a:ext cx="4867153" cy="409575"/>
          </a:xfrm>
          <a:prstGeom prst="roundRect">
            <a:avLst>
              <a:gd name="adj" fmla="val 62304"/>
            </a:avLst>
          </a:prstGeom>
          <a:solidFill>
            <a:srgbClr val="FFFFFF"/>
          </a:solidFill>
          <a:ln w="9525">
            <a:solidFill>
              <a:srgbClr val="17324D">
                <a:alpha val="13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33987" y="2062907"/>
            <a:ext cx="228594" cy="228600"/>
          </a:xfrm>
          <a:prstGeom prst="ellipse">
            <a:avLst/>
          </a:prstGeom>
          <a:solidFill>
            <a:srgbClr val="E9F0F3"/>
          </a:solidFill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934027" y="2091482"/>
            <a:ext cx="349514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</a:t>
            </a:r>
            <a:endParaRPr lang="en-US" sz="1125" dirty="0"/>
          </a:p>
        </p:txBody>
      </p:sp>
      <p:sp>
        <p:nvSpPr>
          <p:cNvPr id="23" name="Text 21"/>
          <p:cNvSpPr/>
          <p:nvPr/>
        </p:nvSpPr>
        <p:spPr>
          <a:xfrm>
            <a:off x="10524415" y="2108597"/>
            <a:ext cx="648130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5664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 code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19690" y="2448669"/>
            <a:ext cx="4867153" cy="409575"/>
          </a:xfrm>
          <a:prstGeom prst="roundRect">
            <a:avLst>
              <a:gd name="adj" fmla="val 62304"/>
            </a:avLst>
          </a:prstGeom>
          <a:solidFill>
            <a:srgbClr val="FFFFFF"/>
          </a:solidFill>
          <a:ln w="9525">
            <a:solidFill>
              <a:srgbClr val="17324D">
                <a:alpha val="13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33987" y="2539157"/>
            <a:ext cx="228594" cy="228600"/>
          </a:xfrm>
          <a:prstGeom prst="ellipse">
            <a:avLst/>
          </a:prstGeom>
          <a:solidFill>
            <a:srgbClr val="E9F0F3"/>
          </a:solidFill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934027" y="2567732"/>
            <a:ext cx="35077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</a:t>
            </a:r>
            <a:endParaRPr lang="en-US" sz="1125" dirty="0"/>
          </a:p>
        </p:txBody>
      </p:sp>
      <p:sp>
        <p:nvSpPr>
          <p:cNvPr id="27" name="Text 25"/>
          <p:cNvSpPr/>
          <p:nvPr/>
        </p:nvSpPr>
        <p:spPr>
          <a:xfrm>
            <a:off x="10537065" y="2584847"/>
            <a:ext cx="635480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5664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files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419690" y="2924919"/>
            <a:ext cx="4867153" cy="409575"/>
          </a:xfrm>
          <a:prstGeom prst="roundRect">
            <a:avLst>
              <a:gd name="adj" fmla="val 62304"/>
            </a:avLst>
          </a:prstGeom>
          <a:solidFill>
            <a:srgbClr val="FFFFFF"/>
          </a:solidFill>
          <a:ln w="9525">
            <a:solidFill>
              <a:srgbClr val="17324D">
                <a:alpha val="13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33987" y="3015407"/>
            <a:ext cx="228594" cy="228600"/>
          </a:xfrm>
          <a:prstGeom prst="ellipse">
            <a:avLst/>
          </a:prstGeom>
          <a:solidFill>
            <a:srgbClr val="E9F0F3"/>
          </a:solidFill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934027" y="3043982"/>
            <a:ext cx="354603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125" dirty="0"/>
          </a:p>
        </p:txBody>
      </p:sp>
      <p:sp>
        <p:nvSpPr>
          <p:cNvPr id="31" name="Text 29"/>
          <p:cNvSpPr/>
          <p:nvPr/>
        </p:nvSpPr>
        <p:spPr>
          <a:xfrm>
            <a:off x="10575313" y="3061097"/>
            <a:ext cx="597232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5664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checks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419690" y="3401169"/>
            <a:ext cx="4867153" cy="409575"/>
          </a:xfrm>
          <a:prstGeom prst="roundRect">
            <a:avLst>
              <a:gd name="adj" fmla="val 62304"/>
            </a:avLst>
          </a:prstGeom>
          <a:solidFill>
            <a:srgbClr val="FFFFFF"/>
          </a:solidFill>
          <a:ln w="9525">
            <a:solidFill>
              <a:srgbClr val="17324D">
                <a:alpha val="13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33987" y="3491657"/>
            <a:ext cx="228594" cy="228600"/>
          </a:xfrm>
          <a:prstGeom prst="ellipse">
            <a:avLst/>
          </a:prstGeom>
          <a:solidFill>
            <a:srgbClr val="E9F0F3"/>
          </a:solidFill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934027" y="3520232"/>
            <a:ext cx="33811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</a:t>
            </a:r>
            <a:endParaRPr lang="en-US" sz="1125" dirty="0"/>
          </a:p>
        </p:txBody>
      </p:sp>
      <p:sp>
        <p:nvSpPr>
          <p:cNvPr id="35" name="Text 33"/>
          <p:cNvSpPr/>
          <p:nvPr/>
        </p:nvSpPr>
        <p:spPr>
          <a:xfrm>
            <a:off x="10410416" y="3537347"/>
            <a:ext cx="762130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845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gate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419690" y="3944094"/>
            <a:ext cx="4867153" cy="373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4051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 only the actions needed. Add approval for high-impact steps, including</a:t>
            </a:r>
            <a:endParaRPr lang="en-US" sz="1050" dirty="0"/>
          </a:p>
          <a:p>
            <a:pPr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4051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 or destructive changes.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85783" y="5858470"/>
            <a:ext cx="10820129" cy="485180"/>
          </a:xfrm>
          <a:prstGeom prst="roundRect">
            <a:avLst>
              <a:gd name="adj" fmla="val 51799"/>
            </a:avLst>
          </a:prstGeom>
          <a:solidFill>
            <a:srgbClr val="FFFFFF">
              <a:alpha val="83000"/>
            </a:srgbClr>
          </a:solidFill>
          <a:ln/>
          <a:effectLst>
            <a:outerShdw sx="100000" sy="100000" kx="0" ky="0" algn="bl" rotWithShape="0" blurRad="114300" dist="28575" dir="10800000">
              <a:srgbClr val="000000">
                <a:alpha val="5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85783" y="5858470"/>
            <a:ext cx="0" cy="485180"/>
          </a:xfrm>
          <a:prstGeom prst="line">
            <a:avLst/>
          </a:prstGeom>
          <a:noFill/>
          <a:ln w="38100">
            <a:solidFill>
              <a:srgbClr val="E5A84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04852" y="6038255"/>
            <a:ext cx="653190" cy="12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90"/>
              </a:lnSpc>
              <a:buNone/>
            </a:pPr>
            <a:r>
              <a:rPr lang="en-US" sz="825" b="1" spc="83" kern="0" dirty="0">
                <a:solidFill>
                  <a:srgbClr val="845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PRINCIPLE</a:t>
            </a:r>
            <a:endParaRPr lang="en-US" sz="825" dirty="0"/>
          </a:p>
        </p:txBody>
      </p:sp>
      <p:sp>
        <p:nvSpPr>
          <p:cNvPr id="40" name="Text 38"/>
          <p:cNvSpPr/>
          <p:nvPr/>
        </p:nvSpPr>
        <p:spPr>
          <a:xfrm>
            <a:off x="1691389" y="5991820"/>
            <a:ext cx="5029967" cy="21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1"/>
              </a:lnSpc>
              <a:buNone/>
            </a:pPr>
            <a:r>
              <a:rPr lang="en-US" sz="1275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least privilege needed while keeping the workflow useful.</a:t>
            </a:r>
            <a:endParaRPr lang="en-US" sz="1275" dirty="0"/>
          </a:p>
        </p:txBody>
      </p:sp>
      <p:sp>
        <p:nvSpPr>
          <p:cNvPr id="41" name="Shape 39"/>
          <p:cNvSpPr/>
          <p:nvPr/>
        </p:nvSpPr>
        <p:spPr>
          <a:xfrm>
            <a:off x="11277318" y="247650"/>
            <a:ext cx="228594" cy="228600"/>
          </a:xfrm>
          <a:prstGeom prst="roundRect">
            <a:avLst>
              <a:gd name="adj" fmla="val 200005"/>
            </a:avLst>
          </a:prstGeom>
          <a:noFill/>
          <a:ln w="9525">
            <a:solidFill>
              <a:srgbClr val="2F6B8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201120" y="6524625"/>
            <a:ext cx="3047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25"/>
              </a:lnSpc>
              <a:buNone/>
            </a:pPr>
            <a:r>
              <a:rPr lang="en-US" sz="825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783" y="566738"/>
            <a:ext cx="323842" cy="28575"/>
          </a:xfrm>
          <a:prstGeom prst="ellipse">
            <a:avLst/>
          </a:prstGeom>
          <a:solidFill>
            <a:srgbClr val="E5A84B"/>
          </a:solidFill>
          <a:ln/>
        </p:spPr>
      </p:sp>
      <p:sp>
        <p:nvSpPr>
          <p:cNvPr id="3" name="Text 1"/>
          <p:cNvSpPr/>
          <p:nvPr/>
        </p:nvSpPr>
        <p:spPr>
          <a:xfrm>
            <a:off x="1123922" y="518220"/>
            <a:ext cx="1553727" cy="12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90"/>
              </a:lnSpc>
              <a:buNone/>
            </a:pPr>
            <a:r>
              <a:rPr lang="en-US" sz="825" b="1" spc="116" kern="0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ENGINEERING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685783" y="906661"/>
            <a:ext cx="3832228" cy="3839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24"/>
              </a:lnSpc>
              <a:buNone/>
            </a:pPr>
            <a:r>
              <a:rPr lang="en-US" sz="2700" b="1" spc="-67" kern="0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“done” observable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791255" y="876300"/>
            <a:ext cx="3714657" cy="414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631"/>
              </a:lnSpc>
              <a:buNone/>
            </a:pPr>
            <a:r>
              <a:rPr lang="en-US" sz="1125" dirty="0">
                <a:solidFill>
                  <a:srgbClr val="496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layered checks to evaluate a change—and turn</a:t>
            </a:r>
            <a:endParaRPr lang="en-US" sz="1125" dirty="0"/>
          </a:p>
          <a:p>
            <a:pPr algn="r" indent="0" marL="0">
              <a:lnSpc>
                <a:spcPts val="1631"/>
              </a:lnSpc>
              <a:buNone/>
            </a:pPr>
            <a:r>
              <a:rPr lang="en-US" sz="1125" dirty="0">
                <a:solidFill>
                  <a:srgbClr val="496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failures into a focused improvement cycle.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685783" y="1462088"/>
            <a:ext cx="71892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90"/>
              </a:lnSpc>
              <a:buNone/>
            </a:pPr>
            <a:r>
              <a:rPr lang="en-US" sz="825" b="1" spc="99" kern="0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USEFUL VERIFICATION LADDER</a:t>
            </a:r>
            <a:endParaRPr lang="en-US" sz="825" dirty="0"/>
          </a:p>
        </p:txBody>
      </p:sp>
      <p:sp>
        <p:nvSpPr>
          <p:cNvPr id="7" name="Shape 5"/>
          <p:cNvSpPr/>
          <p:nvPr/>
        </p:nvSpPr>
        <p:spPr>
          <a:xfrm>
            <a:off x="685783" y="1681162"/>
            <a:ext cx="7189260" cy="571500"/>
          </a:xfrm>
          <a:prstGeom prst="roundRect">
            <a:avLst>
              <a:gd name="adj" fmla="val 42667"/>
            </a:avLst>
          </a:prstGeom>
          <a:solidFill>
            <a:srgbClr val="FFFFFF">
              <a:alpha val="83000"/>
            </a:srgbClr>
          </a:solidFill>
          <a:ln w="9525">
            <a:solidFill>
              <a:srgbClr val="17324D">
                <a:alpha val="13000"/>
              </a:srgbClr>
            </a:solidFill>
            <a:prstDash val="solid"/>
          </a:ln>
          <a:effectLst>
            <a:outerShdw sx="100000" sy="100000" kx="0" ky="0" algn="bl" rotWithShape="0" blurRad="76200" dist="19050" dir="108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47704" y="1795463"/>
            <a:ext cx="342891" cy="342900"/>
          </a:xfrm>
          <a:prstGeom prst="ellipse">
            <a:avLst/>
          </a:prstGeom>
          <a:solidFill>
            <a:srgbClr val="E7F0F5"/>
          </a:solidFill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409665" y="1864072"/>
            <a:ext cx="1100705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and lint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605618" y="1892647"/>
            <a:ext cx="1865216" cy="167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496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 style and basic code issues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7475003" y="1857375"/>
            <a:ext cx="23811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7A9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0080" y="2338388"/>
            <a:ext cx="7074963" cy="571500"/>
          </a:xfrm>
          <a:prstGeom prst="roundRect">
            <a:avLst>
              <a:gd name="adj" fmla="val 42667"/>
            </a:avLst>
          </a:prstGeom>
          <a:solidFill>
            <a:srgbClr val="FFFFFF">
              <a:alpha val="83000"/>
            </a:srgbClr>
          </a:solidFill>
          <a:ln w="9525">
            <a:solidFill>
              <a:srgbClr val="17324D">
                <a:alpha val="13000"/>
              </a:srgbClr>
            </a:solidFill>
            <a:prstDash val="solid"/>
          </a:ln>
          <a:effectLst>
            <a:outerShdw sx="100000" sy="100000" kx="0" ky="0" algn="bl" rotWithShape="0" blurRad="76200" dist="19050" dir="10800000">
              <a:srgbClr val="000000">
                <a:alpha val="5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62001" y="2452688"/>
            <a:ext cx="342891" cy="342900"/>
          </a:xfrm>
          <a:prstGeom prst="ellipse">
            <a:avLst/>
          </a:prstGeom>
          <a:solidFill>
            <a:srgbClr val="E7F0F5"/>
          </a:solidFill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23962" y="2521297"/>
            <a:ext cx="694415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tests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313624" y="2549872"/>
            <a:ext cx="1245660" cy="167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496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small behaviors</a:t>
            </a:r>
            <a:endParaRPr lang="en-US" sz="975" dirty="0"/>
          </a:p>
        </p:txBody>
      </p:sp>
      <p:sp>
        <p:nvSpPr>
          <p:cNvPr id="16" name="Text 14"/>
          <p:cNvSpPr/>
          <p:nvPr/>
        </p:nvSpPr>
        <p:spPr>
          <a:xfrm>
            <a:off x="7475003" y="2514600"/>
            <a:ext cx="23811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7A9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14377" y="2995613"/>
            <a:ext cx="6960666" cy="571500"/>
          </a:xfrm>
          <a:prstGeom prst="roundRect">
            <a:avLst>
              <a:gd name="adj" fmla="val 42667"/>
            </a:avLst>
          </a:prstGeom>
          <a:solidFill>
            <a:srgbClr val="FFFFFF">
              <a:alpha val="83000"/>
            </a:srgbClr>
          </a:solidFill>
          <a:ln w="9525">
            <a:solidFill>
              <a:srgbClr val="17324D">
                <a:alpha val="13000"/>
              </a:srgbClr>
            </a:solidFill>
            <a:prstDash val="solid"/>
          </a:ln>
          <a:effectLst>
            <a:outerShdw sx="100000" sy="100000" kx="0" ky="0" algn="bl" rotWithShape="0" blurRad="76200" dist="19050" dir="10800000">
              <a:srgbClr val="000000">
                <a:alpha val="5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76298" y="3109913"/>
            <a:ext cx="342891" cy="342900"/>
          </a:xfrm>
          <a:prstGeom prst="ellipse">
            <a:avLst/>
          </a:prstGeom>
          <a:solidFill>
            <a:srgbClr val="E7F0F5"/>
          </a:solidFill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638259" y="3178522"/>
            <a:ext cx="1185535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tests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919042" y="3207097"/>
            <a:ext cx="2009874" cy="167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496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components working together</a:t>
            </a:r>
            <a:endParaRPr lang="en-US" sz="975" dirty="0"/>
          </a:p>
        </p:txBody>
      </p:sp>
      <p:sp>
        <p:nvSpPr>
          <p:cNvPr id="21" name="Text 19"/>
          <p:cNvSpPr/>
          <p:nvPr/>
        </p:nvSpPr>
        <p:spPr>
          <a:xfrm>
            <a:off x="7475003" y="3171825"/>
            <a:ext cx="23811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7A9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1028674" y="3652838"/>
            <a:ext cx="6846369" cy="571500"/>
          </a:xfrm>
          <a:prstGeom prst="roundRect">
            <a:avLst>
              <a:gd name="adj" fmla="val 42667"/>
            </a:avLst>
          </a:prstGeom>
          <a:solidFill>
            <a:srgbClr val="FFFFFF">
              <a:alpha val="83000"/>
            </a:srgbClr>
          </a:solidFill>
          <a:ln w="9525">
            <a:solidFill>
              <a:srgbClr val="17324D">
                <a:alpha val="13000"/>
              </a:srgbClr>
            </a:solidFill>
            <a:prstDash val="solid"/>
          </a:ln>
          <a:effectLst>
            <a:outerShdw sx="100000" sy="100000" kx="0" ky="0" algn="bl" rotWithShape="0" blurRad="76200" dist="19050" dir="10800000">
              <a:srgbClr val="000000">
                <a:alpha val="5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190595" y="3767138"/>
            <a:ext cx="342891" cy="342900"/>
          </a:xfrm>
          <a:prstGeom prst="ellipse">
            <a:avLst/>
          </a:prstGeom>
          <a:solidFill>
            <a:srgbClr val="E7F0F5"/>
          </a:solidFill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752556" y="3835747"/>
            <a:ext cx="1414725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 checks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262529" y="3864322"/>
            <a:ext cx="2181468" cy="167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496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results with task requirements</a:t>
            </a:r>
            <a:endParaRPr lang="en-US" sz="975" dirty="0"/>
          </a:p>
        </p:txBody>
      </p:sp>
      <p:sp>
        <p:nvSpPr>
          <p:cNvPr id="26" name="Text 24"/>
          <p:cNvSpPr/>
          <p:nvPr/>
        </p:nvSpPr>
        <p:spPr>
          <a:xfrm>
            <a:off x="7475003" y="3829050"/>
            <a:ext cx="23811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7A9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1142971" y="4310063"/>
            <a:ext cx="6732072" cy="571500"/>
          </a:xfrm>
          <a:prstGeom prst="roundRect">
            <a:avLst>
              <a:gd name="adj" fmla="val 42667"/>
            </a:avLst>
          </a:prstGeom>
          <a:solidFill>
            <a:srgbClr val="FFFAF0"/>
          </a:solidFill>
          <a:ln w="9525">
            <a:solidFill>
              <a:srgbClr val="E5A84B">
                <a:alpha val="55000"/>
              </a:srgbClr>
            </a:solidFill>
            <a:prstDash val="solid"/>
          </a:ln>
          <a:effectLst>
            <a:outerShdw sx="100000" sy="100000" kx="0" ky="0" algn="bl" rotWithShape="0" blurRad="76200" dist="19050" dir="10800000">
              <a:srgbClr val="000000">
                <a:alpha val="5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1304892" y="4424363"/>
            <a:ext cx="342891" cy="342900"/>
          </a:xfrm>
          <a:prstGeom prst="ellipse">
            <a:avLst/>
          </a:prstGeom>
          <a:solidFill>
            <a:srgbClr val="F8E9C9"/>
          </a:solidFill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855B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866853" y="4492972"/>
            <a:ext cx="1033288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review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995389" y="4521547"/>
            <a:ext cx="2092173" cy="167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496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 intent, risk, and maintainability</a:t>
            </a:r>
            <a:endParaRPr lang="en-US" sz="975" dirty="0"/>
          </a:p>
        </p:txBody>
      </p:sp>
      <p:sp>
        <p:nvSpPr>
          <p:cNvPr id="31" name="Text 29"/>
          <p:cNvSpPr/>
          <p:nvPr/>
        </p:nvSpPr>
        <p:spPr>
          <a:xfrm>
            <a:off x="7475003" y="4481513"/>
            <a:ext cx="2381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7A9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122687" y="1462088"/>
            <a:ext cx="3383225" cy="4275832"/>
          </a:xfrm>
          <a:prstGeom prst="roundRect">
            <a:avLst>
              <a:gd name="adj" fmla="val 1522"/>
            </a:avLst>
          </a:prstGeom>
          <a:solidFill>
            <a:srgbClr val="EAF1F5"/>
          </a:solidFill>
          <a:ln w="9525">
            <a:solidFill>
              <a:srgbClr val="2F6B8A">
                <a:alpha val="19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2707" y="1652588"/>
            <a:ext cx="29831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loop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322707" y="1947862"/>
            <a:ext cx="2983185" cy="346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496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failure is useful when it points to the next bounded</a:t>
            </a:r>
            <a:endParaRPr lang="en-US" sz="975" dirty="0"/>
          </a:p>
          <a:p>
            <a:pPr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496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action.</a:t>
            </a:r>
            <a:endParaRPr lang="en-US" sz="975" dirty="0"/>
          </a:p>
        </p:txBody>
      </p:sp>
      <p:sp>
        <p:nvSpPr>
          <p:cNvPr id="35" name="Shape 33"/>
          <p:cNvSpPr/>
          <p:nvPr/>
        </p:nvSpPr>
        <p:spPr>
          <a:xfrm>
            <a:off x="8322707" y="2437209"/>
            <a:ext cx="2983185" cy="390525"/>
          </a:xfrm>
          <a:prstGeom prst="roundRect">
            <a:avLst>
              <a:gd name="adj" fmla="val 68531"/>
            </a:avLst>
          </a:prstGeom>
          <a:solidFill>
            <a:srgbClr val="FFFFFF">
              <a:alpha val="8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8417955" y="2522934"/>
            <a:ext cx="219070" cy="219075"/>
          </a:xfrm>
          <a:prstGeom prst="ellipse">
            <a:avLst/>
          </a:prstGeom>
          <a:solidFill>
            <a:srgbClr val="DCE9EF"/>
          </a:solidFill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732272" y="2551956"/>
            <a:ext cx="1121838" cy="160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relevant checks</a:t>
            </a:r>
            <a:endParaRPr lang="en-US" sz="975" dirty="0"/>
          </a:p>
        </p:txBody>
      </p:sp>
      <p:sp>
        <p:nvSpPr>
          <p:cNvPr id="38" name="Shape 36"/>
          <p:cNvSpPr/>
          <p:nvPr/>
        </p:nvSpPr>
        <p:spPr>
          <a:xfrm>
            <a:off x="8513202" y="2894409"/>
            <a:ext cx="2792690" cy="95250"/>
          </a:xfrm>
          <a:prstGeom prst="rect">
            <a:avLst/>
          </a:prstGeom>
          <a:noFill/>
          <a:ln/>
        </p:spPr>
      </p:sp>
      <p:sp>
        <p:nvSpPr>
          <p:cNvPr id="39" name="Shape 37"/>
          <p:cNvSpPr/>
          <p:nvPr/>
        </p:nvSpPr>
        <p:spPr>
          <a:xfrm>
            <a:off x="8513202" y="2894409"/>
            <a:ext cx="0" cy="95250"/>
          </a:xfrm>
          <a:prstGeom prst="line">
            <a:avLst/>
          </a:prstGeom>
          <a:noFill/>
          <a:ln w="9525">
            <a:solidFill>
              <a:srgbClr val="84A5B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322707" y="3056334"/>
            <a:ext cx="2983185" cy="390525"/>
          </a:xfrm>
          <a:prstGeom prst="roundRect">
            <a:avLst>
              <a:gd name="adj" fmla="val 68531"/>
            </a:avLst>
          </a:prstGeom>
          <a:solidFill>
            <a:srgbClr val="FFFFFF">
              <a:alpha val="80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8417955" y="3142059"/>
            <a:ext cx="219070" cy="219075"/>
          </a:xfrm>
          <a:prstGeom prst="ellipse">
            <a:avLst/>
          </a:prstGeom>
          <a:solidFill>
            <a:srgbClr val="DCE9EF"/>
          </a:solidFill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732272" y="3171081"/>
            <a:ext cx="1163212" cy="160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 failure details</a:t>
            </a:r>
            <a:endParaRPr lang="en-US" sz="975" dirty="0"/>
          </a:p>
        </p:txBody>
      </p:sp>
      <p:sp>
        <p:nvSpPr>
          <p:cNvPr id="43" name="Shape 41"/>
          <p:cNvSpPr/>
          <p:nvPr/>
        </p:nvSpPr>
        <p:spPr>
          <a:xfrm>
            <a:off x="8513202" y="3513534"/>
            <a:ext cx="2792690" cy="95250"/>
          </a:xfrm>
          <a:prstGeom prst="rect">
            <a:avLst/>
          </a:prstGeom>
          <a:noFill/>
          <a:ln/>
        </p:spPr>
      </p:sp>
      <p:sp>
        <p:nvSpPr>
          <p:cNvPr id="44" name="Shape 42"/>
          <p:cNvSpPr/>
          <p:nvPr/>
        </p:nvSpPr>
        <p:spPr>
          <a:xfrm>
            <a:off x="8513202" y="3513534"/>
            <a:ext cx="0" cy="95250"/>
          </a:xfrm>
          <a:prstGeom prst="line">
            <a:avLst/>
          </a:prstGeom>
          <a:noFill/>
          <a:ln w="9525">
            <a:solidFill>
              <a:srgbClr val="84A5B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322707" y="3675459"/>
            <a:ext cx="2983185" cy="390525"/>
          </a:xfrm>
          <a:prstGeom prst="roundRect">
            <a:avLst>
              <a:gd name="adj" fmla="val 68531"/>
            </a:avLst>
          </a:prstGeom>
          <a:solidFill>
            <a:srgbClr val="FFFFFF">
              <a:alpha val="80000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8417955" y="3761184"/>
            <a:ext cx="219070" cy="219075"/>
          </a:xfrm>
          <a:prstGeom prst="ellipse">
            <a:avLst/>
          </a:prstGeom>
          <a:solidFill>
            <a:srgbClr val="DCE9EF"/>
          </a:solidFill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8732272" y="3790206"/>
            <a:ext cx="1080763" cy="160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a bounded fix</a:t>
            </a:r>
            <a:endParaRPr lang="en-US" sz="975" dirty="0"/>
          </a:p>
        </p:txBody>
      </p:sp>
      <p:sp>
        <p:nvSpPr>
          <p:cNvPr id="48" name="Shape 46"/>
          <p:cNvSpPr/>
          <p:nvPr/>
        </p:nvSpPr>
        <p:spPr>
          <a:xfrm>
            <a:off x="8513202" y="4132659"/>
            <a:ext cx="2792690" cy="95250"/>
          </a:xfrm>
          <a:prstGeom prst="rect">
            <a:avLst/>
          </a:prstGeom>
          <a:noFill/>
          <a:ln/>
        </p:spPr>
      </p:sp>
      <p:sp>
        <p:nvSpPr>
          <p:cNvPr id="49" name="Shape 47"/>
          <p:cNvSpPr/>
          <p:nvPr/>
        </p:nvSpPr>
        <p:spPr>
          <a:xfrm>
            <a:off x="8513202" y="4132659"/>
            <a:ext cx="0" cy="95250"/>
          </a:xfrm>
          <a:prstGeom prst="line">
            <a:avLst/>
          </a:prstGeom>
          <a:noFill/>
          <a:ln w="9525">
            <a:solidFill>
              <a:srgbClr val="84A5B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322707" y="4294584"/>
            <a:ext cx="2983185" cy="390525"/>
          </a:xfrm>
          <a:prstGeom prst="roundRect">
            <a:avLst>
              <a:gd name="adj" fmla="val 68531"/>
            </a:avLst>
          </a:prstGeom>
          <a:solidFill>
            <a:srgbClr val="FFFFFF">
              <a:alpha val="80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8417955" y="4380309"/>
            <a:ext cx="219070" cy="219075"/>
          </a:xfrm>
          <a:prstGeom prst="ellipse">
            <a:avLst/>
          </a:prstGeom>
          <a:solidFill>
            <a:srgbClr val="DCE9EF"/>
          </a:solidFill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732272" y="4409331"/>
            <a:ext cx="1231968" cy="160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Rerun relevant checks</a:t>
            </a:r>
            <a:endParaRPr lang="en-US" sz="975" dirty="0"/>
          </a:p>
        </p:txBody>
      </p:sp>
      <p:sp>
        <p:nvSpPr>
          <p:cNvPr id="53" name="Text 51"/>
          <p:cNvSpPr/>
          <p:nvPr/>
        </p:nvSpPr>
        <p:spPr>
          <a:xfrm>
            <a:off x="8322707" y="5103614"/>
            <a:ext cx="2983185" cy="443805"/>
          </a:xfrm>
          <a:prstGeom prst="rect">
            <a:avLst/>
          </a:prstGeom>
          <a:noFill/>
          <a:ln/>
        </p:spPr>
        <p:txBody>
          <a:bodyPr wrap="none" lIns="114300" tIns="0" rIns="0" bIns="0" rtlCol="0" anchor="t"/>
          <a:lstStyle/>
          <a:p>
            <a:pPr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Repeat until the change meets its acceptance</a:t>
            </a:r>
            <a:endParaRPr lang="en-US" sz="900" dirty="0"/>
          </a:p>
          <a:p>
            <a:pPr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8322707" y="5103614"/>
            <a:ext cx="2983185" cy="0"/>
          </a:xfrm>
          <a:prstGeom prst="line">
            <a:avLst/>
          </a:prstGeom>
          <a:noFill/>
          <a:ln w="9525">
            <a:solidFill>
              <a:srgbClr val="2F6B8A">
                <a:alpha val="20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85783" y="5909370"/>
            <a:ext cx="10820129" cy="434280"/>
          </a:xfrm>
          <a:prstGeom prst="roundRect">
            <a:avLst>
              <a:gd name="adj" fmla="val 64653"/>
            </a:avLst>
          </a:prstGeom>
          <a:solidFill>
            <a:srgbClr val="FFF8E9"/>
          </a:solidFill>
          <a:ln/>
        </p:spPr>
      </p:sp>
      <p:sp>
        <p:nvSpPr>
          <p:cNvPr id="56" name="Shape 54"/>
          <p:cNvSpPr/>
          <p:nvPr/>
        </p:nvSpPr>
        <p:spPr>
          <a:xfrm>
            <a:off x="685783" y="5909370"/>
            <a:ext cx="10820129" cy="0"/>
          </a:xfrm>
          <a:prstGeom prst="line">
            <a:avLst/>
          </a:prstGeom>
          <a:noFill/>
          <a:ln w="9525">
            <a:solidFill>
              <a:srgbClr val="E5A84B">
                <a:alpha val="6200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1505912" y="5909370"/>
            <a:ext cx="0" cy="434280"/>
          </a:xfrm>
          <a:prstGeom prst="line">
            <a:avLst/>
          </a:prstGeom>
          <a:noFill/>
          <a:ln w="9525">
            <a:solidFill>
              <a:srgbClr val="E5A84B">
                <a:alpha val="6200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85783" y="6343650"/>
            <a:ext cx="10820129" cy="0"/>
          </a:xfrm>
          <a:prstGeom prst="line">
            <a:avLst/>
          </a:prstGeom>
          <a:noFill/>
          <a:ln w="9525">
            <a:solidFill>
              <a:srgbClr val="E5A84B">
                <a:alpha val="62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85783" y="5909370"/>
            <a:ext cx="0" cy="434280"/>
          </a:xfrm>
          <a:prstGeom prst="line">
            <a:avLst/>
          </a:prstGeom>
          <a:noFill/>
          <a:ln w="47625">
            <a:solidFill>
              <a:srgbClr val="E5A84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95328" y="6069360"/>
            <a:ext cx="83996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90"/>
              </a:lnSpc>
              <a:buNone/>
            </a:pPr>
            <a:r>
              <a:rPr lang="en-US" sz="825" b="1" spc="83" kern="0" dirty="0">
                <a:solidFill>
                  <a:srgbClr val="855B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IN MIND</a:t>
            </a:r>
            <a:endParaRPr lang="en-US" sz="825" dirty="0"/>
          </a:p>
        </p:txBody>
      </p:sp>
      <p:sp>
        <p:nvSpPr>
          <p:cNvPr id="61" name="Text 59"/>
          <p:cNvSpPr/>
          <p:nvPr/>
        </p:nvSpPr>
        <p:spPr>
          <a:xfrm>
            <a:off x="1868639" y="6033195"/>
            <a:ext cx="4454761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513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Passing tests increases confidence; it does not prove the change is correct.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11277318" y="247650"/>
            <a:ext cx="228594" cy="228600"/>
          </a:xfrm>
          <a:prstGeom prst="roundRect">
            <a:avLst>
              <a:gd name="adj" fmla="val 200005"/>
            </a:avLst>
          </a:prstGeom>
          <a:noFill/>
          <a:ln w="9525">
            <a:solidFill>
              <a:srgbClr val="2F6B8A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783" y="566738"/>
            <a:ext cx="323842" cy="28575"/>
          </a:xfrm>
          <a:prstGeom prst="ellipse">
            <a:avLst/>
          </a:prstGeom>
          <a:solidFill>
            <a:srgbClr val="E5A84B"/>
          </a:solidFill>
          <a:ln/>
        </p:spPr>
      </p:sp>
      <p:sp>
        <p:nvSpPr>
          <p:cNvPr id="3" name="Text 1"/>
          <p:cNvSpPr/>
          <p:nvPr/>
        </p:nvSpPr>
        <p:spPr>
          <a:xfrm>
            <a:off x="1123922" y="518220"/>
            <a:ext cx="1553727" cy="12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90"/>
              </a:lnSpc>
              <a:buNone/>
            </a:pPr>
            <a:r>
              <a:rPr lang="en-US" sz="825" b="1" spc="116" kern="0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ENGINEERING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685783" y="876300"/>
            <a:ext cx="10820129" cy="362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6"/>
              </a:lnSpc>
              <a:buNone/>
            </a:pPr>
            <a:r>
              <a:rPr lang="en-US" sz="2550" b="1" spc="-64" kern="0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study: duplicate course enrollment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685783" y="1410444"/>
            <a:ext cx="4676956" cy="1965722"/>
          </a:xfrm>
          <a:prstGeom prst="roundRect">
            <a:avLst>
              <a:gd name="adj" fmla="val 3606"/>
            </a:avLst>
          </a:prstGeom>
          <a:solidFill>
            <a:srgbClr val="FFFFFF">
              <a:alpha val="78000"/>
            </a:srgbClr>
          </a:solidFill>
          <a:ln w="9525">
            <a:solidFill>
              <a:srgbClr val="17324D">
                <a:alpha val="14000"/>
              </a:srgbClr>
            </a:solidFill>
            <a:prstDash val="solid"/>
          </a:ln>
          <a:effectLst>
            <a:outerShdw sx="100000" sy="100000" kx="0" ky="0" algn="bl" rotWithShape="0" blurRad="114300" dist="28575" dir="10800000">
              <a:srgbClr val="00000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04852" y="1610469"/>
            <a:ext cx="42388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90"/>
              </a:lnSpc>
              <a:buNone/>
            </a:pPr>
            <a:r>
              <a:rPr lang="en-US" sz="825" b="1" spc="107" kern="0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BUG-FIX TASK</a:t>
            </a:r>
            <a:endParaRPr lang="en-US" sz="825" dirty="0"/>
          </a:p>
        </p:txBody>
      </p:sp>
      <p:sp>
        <p:nvSpPr>
          <p:cNvPr id="7" name="Text 5"/>
          <p:cNvSpPr/>
          <p:nvPr/>
        </p:nvSpPr>
        <p:spPr>
          <a:xfrm>
            <a:off x="904852" y="1839069"/>
            <a:ext cx="4238817" cy="5607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2208"/>
              </a:lnSpc>
              <a:buNone/>
            </a:pPr>
            <a:r>
              <a:rPr lang="en-US" sz="1725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can enroll in the same course</a:t>
            </a:r>
            <a:endParaRPr lang="en-US" sz="1725" dirty="0"/>
          </a:p>
          <a:p>
            <a:pPr indent="0" marL="0">
              <a:lnSpc>
                <a:spcPts val="2208"/>
              </a:lnSpc>
              <a:buNone/>
            </a:pPr>
            <a:r>
              <a:rPr lang="en-US" sz="1725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twice.</a:t>
            </a:r>
            <a:endParaRPr lang="en-US" sz="1725" dirty="0"/>
          </a:p>
        </p:txBody>
      </p:sp>
      <p:sp>
        <p:nvSpPr>
          <p:cNvPr id="8" name="Text 6"/>
          <p:cNvSpPr/>
          <p:nvPr/>
        </p:nvSpPr>
        <p:spPr>
          <a:xfrm>
            <a:off x="904852" y="2533204"/>
            <a:ext cx="7409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Repository: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04852" y="3028504"/>
            <a:ext cx="4238817" cy="1309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31"/>
              </a:lnSpc>
              <a:buNone/>
            </a:pPr>
            <a:r>
              <a:rPr lang="en-US" sz="825" i="1" dirty="0">
                <a:solidFill>
                  <a:srgbClr val="5B69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scenario—not a claim about a specific real system.</a:t>
            </a:r>
            <a:endParaRPr lang="en-US" sz="825" dirty="0"/>
          </a:p>
        </p:txBody>
      </p:sp>
      <p:sp>
        <p:nvSpPr>
          <p:cNvPr id="10" name="Shape 8"/>
          <p:cNvSpPr/>
          <p:nvPr/>
        </p:nvSpPr>
        <p:spPr>
          <a:xfrm>
            <a:off x="5553234" y="1410444"/>
            <a:ext cx="5952679" cy="1965722"/>
          </a:xfrm>
          <a:prstGeom prst="roundRect">
            <a:avLst>
              <a:gd name="adj" fmla="val 3606"/>
            </a:avLst>
          </a:prstGeom>
          <a:solidFill>
            <a:srgbClr val="FFFFFF">
              <a:alpha val="78000"/>
            </a:srgbClr>
          </a:solidFill>
          <a:ln w="9525">
            <a:solidFill>
              <a:srgbClr val="17324D">
                <a:alpha val="14000"/>
              </a:srgbClr>
            </a:solidFill>
            <a:prstDash val="solid"/>
          </a:ln>
          <a:effectLst>
            <a:outerShdw sx="100000" sy="100000" kx="0" ky="0" algn="bl" rotWithShape="0" blurRad="114300" dist="28575" dir="108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753254" y="1591419"/>
            <a:ext cx="555263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90"/>
              </a:lnSpc>
              <a:buNone/>
            </a:pPr>
            <a:r>
              <a:rPr lang="en-US" sz="825" b="1" spc="99" kern="0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PATH</a:t>
            </a:r>
            <a:endParaRPr lang="en-US" sz="825" dirty="0"/>
          </a:p>
        </p:txBody>
      </p:sp>
      <p:sp>
        <p:nvSpPr>
          <p:cNvPr id="12" name="Shape 10"/>
          <p:cNvSpPr/>
          <p:nvPr/>
        </p:nvSpPr>
        <p:spPr>
          <a:xfrm>
            <a:off x="5753254" y="1877169"/>
            <a:ext cx="1590486" cy="628650"/>
          </a:xfrm>
          <a:prstGeom prst="roundRect">
            <a:avLst>
              <a:gd name="adj" fmla="val 35262"/>
            </a:avLst>
          </a:prstGeom>
          <a:solidFill>
            <a:srgbClr val="EEF4F7"/>
          </a:solidFill>
          <a:ln w="9525">
            <a:solidFill>
              <a:srgbClr val="2F6B8A">
                <a:alpha val="3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8026" y="2239119"/>
            <a:ext cx="138094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submits enrollment</a:t>
            </a:r>
            <a:endParaRPr lang="en-US" sz="825" dirty="0"/>
          </a:p>
        </p:txBody>
      </p:sp>
      <p:sp>
        <p:nvSpPr>
          <p:cNvPr id="14" name="Text 12"/>
          <p:cNvSpPr/>
          <p:nvPr/>
        </p:nvSpPr>
        <p:spPr>
          <a:xfrm>
            <a:off x="7438988" y="2077194"/>
            <a:ext cx="2000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75" dirty="0"/>
          </a:p>
        </p:txBody>
      </p:sp>
      <p:sp>
        <p:nvSpPr>
          <p:cNvPr id="15" name="Shape 13"/>
          <p:cNvSpPr/>
          <p:nvPr/>
        </p:nvSpPr>
        <p:spPr>
          <a:xfrm>
            <a:off x="7734255" y="1877169"/>
            <a:ext cx="1590635" cy="628650"/>
          </a:xfrm>
          <a:prstGeom prst="roundRect">
            <a:avLst>
              <a:gd name="adj" fmla="val 35262"/>
            </a:avLst>
          </a:prstGeom>
          <a:solidFill>
            <a:srgbClr val="EEF4F7"/>
          </a:solidFill>
          <a:ln w="9525">
            <a:solidFill>
              <a:srgbClr val="2F6B8A">
                <a:alpha val="3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39028" y="2239119"/>
            <a:ext cx="138109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request</a:t>
            </a:r>
            <a:endParaRPr lang="en-US" sz="825" dirty="0"/>
          </a:p>
        </p:txBody>
      </p:sp>
      <p:sp>
        <p:nvSpPr>
          <p:cNvPr id="17" name="Text 15"/>
          <p:cNvSpPr/>
          <p:nvPr/>
        </p:nvSpPr>
        <p:spPr>
          <a:xfrm>
            <a:off x="9420138" y="2077194"/>
            <a:ext cx="2000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75" dirty="0"/>
          </a:p>
        </p:txBody>
      </p:sp>
      <p:sp>
        <p:nvSpPr>
          <p:cNvPr id="18" name="Shape 16"/>
          <p:cNvSpPr/>
          <p:nvPr/>
        </p:nvSpPr>
        <p:spPr>
          <a:xfrm>
            <a:off x="9715406" y="1877169"/>
            <a:ext cx="1590486" cy="628650"/>
          </a:xfrm>
          <a:prstGeom prst="roundRect">
            <a:avLst>
              <a:gd name="adj" fmla="val 35262"/>
            </a:avLst>
          </a:prstGeom>
          <a:solidFill>
            <a:srgbClr val="EEF4F7"/>
          </a:solidFill>
          <a:ln w="9525">
            <a:solidFill>
              <a:srgbClr val="2F6B8A">
                <a:alpha val="3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20178" y="2239119"/>
            <a:ext cx="138094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stores enrollment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5753254" y="2677269"/>
            <a:ext cx="5552639" cy="517922"/>
          </a:xfrm>
          <a:prstGeom prst="roundRect">
            <a:avLst>
              <a:gd name="adj" fmla="val 38963"/>
            </a:avLst>
          </a:prstGeom>
          <a:solidFill>
            <a:srgbClr val="E5A84B">
              <a:alpha val="18000"/>
            </a:srgbClr>
          </a:solidFill>
          <a:ln w="9525">
            <a:solidFill>
              <a:srgbClr val="E5A84B">
                <a:alpha val="7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77076" y="2782044"/>
            <a:ext cx="5304995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6247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request highlighted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85783" y="3547616"/>
            <a:ext cx="6271460" cy="1209229"/>
          </a:xfrm>
          <a:prstGeom prst="roundRect">
            <a:avLst>
              <a:gd name="adj" fmla="val 9530"/>
            </a:avLst>
          </a:prstGeom>
          <a:solidFill>
            <a:srgbClr val="FFFFFF">
              <a:alpha val="78000"/>
            </a:srgbClr>
          </a:solidFill>
          <a:ln w="9525">
            <a:solidFill>
              <a:srgbClr val="17324D">
                <a:alpha val="14000"/>
              </a:srgbClr>
            </a:solidFill>
            <a:prstDash val="solid"/>
          </a:ln>
          <a:effectLst>
            <a:outerShdw sx="100000" sy="100000" kx="0" ky="0" algn="bl" rotWithShape="0" blurRad="114300" dist="28575" dir="10800000">
              <a:srgbClr val="000000">
                <a:alpha val="5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85803" y="3709541"/>
            <a:ext cx="5871420" cy="194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conditions</a:t>
            </a:r>
            <a:endParaRPr lang="en-US" sz="1275" dirty="0"/>
          </a:p>
        </p:txBody>
      </p:sp>
      <p:sp>
        <p:nvSpPr>
          <p:cNvPr id="24" name="Text 22"/>
          <p:cNvSpPr/>
          <p:nvPr/>
        </p:nvSpPr>
        <p:spPr>
          <a:xfrm>
            <a:off x="885803" y="3999012"/>
            <a:ext cx="2849987" cy="346472"/>
          </a:xfrm>
          <a:prstGeom prst="rect">
            <a:avLst/>
          </a:prstGeom>
          <a:noFill/>
          <a:ln/>
        </p:spPr>
        <p:txBody>
          <a:bodyPr wrap="none" lIns="0" tIns="209550" rIns="0" bIns="0" rtlCol="0" anchor="t"/>
          <a:lstStyle/>
          <a:p>
            <a:pPr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 duplicate enrollment or safely treat it as</a:t>
            </a:r>
            <a:endParaRPr lang="en-US" sz="975" dirty="0"/>
          </a:p>
          <a:p>
            <a:pPr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no-op</a:t>
            </a:r>
            <a:endParaRPr lang="en-US" sz="975" dirty="0"/>
          </a:p>
        </p:txBody>
      </p:sp>
      <p:sp>
        <p:nvSpPr>
          <p:cNvPr id="25" name="Text 23"/>
          <p:cNvSpPr/>
          <p:nvPr/>
        </p:nvSpPr>
        <p:spPr>
          <a:xfrm>
            <a:off x="3907236" y="3999012"/>
            <a:ext cx="2849987" cy="346472"/>
          </a:xfrm>
          <a:prstGeom prst="rect">
            <a:avLst/>
          </a:prstGeom>
          <a:noFill/>
          <a:ln/>
        </p:spPr>
        <p:txBody>
          <a:bodyPr wrap="square" lIns="0" tIns="209550" rIns="0" bIns="0" rtlCol="0" anchor="t"/>
          <a:lstStyle/>
          <a:p>
            <a:pPr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Preserve existing enrollment behavior</a:t>
            </a:r>
            <a:endParaRPr lang="en-US" sz="975" dirty="0"/>
          </a:p>
        </p:txBody>
      </p:sp>
      <p:sp>
        <p:nvSpPr>
          <p:cNvPr id="26" name="Text 24"/>
          <p:cNvSpPr/>
          <p:nvPr/>
        </p:nvSpPr>
        <p:spPr>
          <a:xfrm>
            <a:off x="885803" y="4421684"/>
            <a:ext cx="2849987" cy="173236"/>
          </a:xfrm>
          <a:prstGeom prst="rect">
            <a:avLst/>
          </a:prstGeom>
          <a:noFill/>
          <a:ln/>
        </p:spPr>
        <p:txBody>
          <a:bodyPr wrap="square" lIns="0" tIns="209550" rIns="0" bIns="0" rtlCol="0" anchor="t"/>
          <a:lstStyle/>
          <a:p>
            <a:pPr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 regression test for the bug</a:t>
            </a:r>
            <a:endParaRPr lang="en-US" sz="975" dirty="0"/>
          </a:p>
        </p:txBody>
      </p:sp>
      <p:sp>
        <p:nvSpPr>
          <p:cNvPr id="27" name="Text 25"/>
          <p:cNvSpPr/>
          <p:nvPr/>
        </p:nvSpPr>
        <p:spPr>
          <a:xfrm>
            <a:off x="3907236" y="4421684"/>
            <a:ext cx="2849987" cy="173236"/>
          </a:xfrm>
          <a:prstGeom prst="rect">
            <a:avLst/>
          </a:prstGeom>
          <a:noFill/>
          <a:ln/>
        </p:spPr>
        <p:txBody>
          <a:bodyPr wrap="square" lIns="0" tIns="209550" rIns="0" bIns="0" rtlCol="0" anchor="t"/>
          <a:lstStyle/>
          <a:p>
            <a:pPr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no unrelated files or data</a:t>
            </a:r>
            <a:endParaRPr lang="en-US" sz="975" dirty="0"/>
          </a:p>
        </p:txBody>
      </p:sp>
      <p:sp>
        <p:nvSpPr>
          <p:cNvPr id="28" name="Shape 26"/>
          <p:cNvSpPr/>
          <p:nvPr/>
        </p:nvSpPr>
        <p:spPr>
          <a:xfrm>
            <a:off x="7147738" y="3547616"/>
            <a:ext cx="4358025" cy="1209229"/>
          </a:xfrm>
          <a:prstGeom prst="roundRect">
            <a:avLst>
              <a:gd name="adj" fmla="val 9530"/>
            </a:avLst>
          </a:prstGeom>
          <a:solidFill>
            <a:srgbClr val="FFFFFF">
              <a:alpha val="78000"/>
            </a:srgbClr>
          </a:solidFill>
          <a:ln/>
          <a:effectLst>
            <a:outerShdw sx="100000" sy="100000" kx="0" ky="0" algn="bl" rotWithShape="0" blurRad="114300" dist="28575" dir="10800000">
              <a:srgbClr val="000000">
                <a:alpha val="5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47738" y="3547616"/>
            <a:ext cx="4358025" cy="0"/>
          </a:xfrm>
          <a:prstGeom prst="line">
            <a:avLst/>
          </a:prstGeom>
          <a:noFill/>
          <a:ln w="9525">
            <a:solidFill>
              <a:srgbClr val="17324D">
                <a:alpha val="14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505764" y="3547616"/>
            <a:ext cx="0" cy="1209229"/>
          </a:xfrm>
          <a:prstGeom prst="line">
            <a:avLst/>
          </a:prstGeom>
          <a:noFill/>
          <a:ln w="9525">
            <a:solidFill>
              <a:srgbClr val="17324D">
                <a:alpha val="14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47738" y="4756845"/>
            <a:ext cx="4358025" cy="0"/>
          </a:xfrm>
          <a:prstGeom prst="line">
            <a:avLst/>
          </a:prstGeom>
          <a:noFill/>
          <a:ln w="9525">
            <a:solidFill>
              <a:srgbClr val="17324D">
                <a:alpha val="14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147738" y="3547616"/>
            <a:ext cx="0" cy="1209229"/>
          </a:xfrm>
          <a:prstGeom prst="line">
            <a:avLst/>
          </a:prstGeom>
          <a:noFill/>
          <a:ln w="38100">
            <a:solidFill>
              <a:srgbClr val="E5A84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57283" y="3858369"/>
            <a:ext cx="396751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setup</a:t>
            </a:r>
            <a:endParaRPr lang="en-US" sz="1125" dirty="0"/>
          </a:p>
        </p:txBody>
      </p:sp>
      <p:sp>
        <p:nvSpPr>
          <p:cNvPr id="34" name="Text 32"/>
          <p:cNvSpPr/>
          <p:nvPr/>
        </p:nvSpPr>
        <p:spPr>
          <a:xfrm>
            <a:off x="7357283" y="4086969"/>
            <a:ext cx="3967510" cy="3589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instructions, a task-scoped workspace, test and search tools,</a:t>
            </a:r>
            <a:endParaRPr lang="en-US" sz="975" dirty="0"/>
          </a:p>
          <a:p>
            <a:pPr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no production credentials.</a:t>
            </a:r>
            <a:endParaRPr lang="en-US" sz="975" dirty="0"/>
          </a:p>
        </p:txBody>
      </p:sp>
      <p:sp>
        <p:nvSpPr>
          <p:cNvPr id="35" name="Shape 33"/>
          <p:cNvSpPr/>
          <p:nvPr/>
        </p:nvSpPr>
        <p:spPr>
          <a:xfrm>
            <a:off x="11277318" y="247650"/>
            <a:ext cx="228594" cy="228600"/>
          </a:xfrm>
          <a:prstGeom prst="roundRect">
            <a:avLst>
              <a:gd name="adj" fmla="val 200005"/>
            </a:avLst>
          </a:prstGeom>
          <a:noFill/>
          <a:ln w="9525">
            <a:solidFill>
              <a:srgbClr val="2F6B8A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783" y="566738"/>
            <a:ext cx="323842" cy="28575"/>
          </a:xfrm>
          <a:prstGeom prst="ellipse">
            <a:avLst/>
          </a:prstGeom>
          <a:solidFill>
            <a:srgbClr val="E5A84B"/>
          </a:solidFill>
          <a:ln/>
        </p:spPr>
      </p:sp>
      <p:sp>
        <p:nvSpPr>
          <p:cNvPr id="3" name="Text 1"/>
          <p:cNvSpPr/>
          <p:nvPr/>
        </p:nvSpPr>
        <p:spPr>
          <a:xfrm>
            <a:off x="1123922" y="518220"/>
            <a:ext cx="1553727" cy="12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90"/>
              </a:lnSpc>
              <a:buNone/>
            </a:pPr>
            <a:r>
              <a:rPr lang="en-US" sz="825" b="1" spc="116" kern="0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ENGINEERING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685783" y="895350"/>
            <a:ext cx="10820129" cy="3839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24"/>
              </a:lnSpc>
              <a:buNone/>
            </a:pPr>
            <a:r>
              <a:rPr lang="en-US" sz="2700" b="1" spc="-67" kern="0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request to reviewed change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61981" y="1488877"/>
            <a:ext cx="344156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90"/>
              </a:lnSpc>
              <a:buNone/>
            </a:pPr>
            <a:r>
              <a:rPr lang="en-US" sz="825" b="1" spc="107" kern="0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825" dirty="0"/>
          </a:p>
        </p:txBody>
      </p:sp>
      <p:sp>
        <p:nvSpPr>
          <p:cNvPr id="6" name="Text 4"/>
          <p:cNvSpPr/>
          <p:nvPr/>
        </p:nvSpPr>
        <p:spPr>
          <a:xfrm>
            <a:off x="4374991" y="1488877"/>
            <a:ext cx="344156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90"/>
              </a:lnSpc>
              <a:buNone/>
            </a:pPr>
            <a:r>
              <a:rPr lang="en-US" sz="825" b="1" spc="107" kern="0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</a:t>
            </a:r>
            <a:endParaRPr lang="en-US" sz="825" dirty="0"/>
          </a:p>
        </p:txBody>
      </p:sp>
      <p:sp>
        <p:nvSpPr>
          <p:cNvPr id="7" name="Text 5"/>
          <p:cNvSpPr/>
          <p:nvPr/>
        </p:nvSpPr>
        <p:spPr>
          <a:xfrm>
            <a:off x="7988001" y="1488877"/>
            <a:ext cx="34417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90"/>
              </a:lnSpc>
              <a:buNone/>
            </a:pPr>
            <a:r>
              <a:rPr lang="en-US" sz="825" b="1" spc="107" kern="0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825" dirty="0"/>
          </a:p>
        </p:txBody>
      </p:sp>
      <p:sp>
        <p:nvSpPr>
          <p:cNvPr id="8" name="Shape 6"/>
          <p:cNvSpPr/>
          <p:nvPr/>
        </p:nvSpPr>
        <p:spPr>
          <a:xfrm>
            <a:off x="685783" y="1812727"/>
            <a:ext cx="1692133" cy="2694087"/>
          </a:xfrm>
          <a:prstGeom prst="roundRect">
            <a:avLst>
              <a:gd name="adj" fmla="val 4867"/>
            </a:avLst>
          </a:prstGeom>
          <a:solidFill>
            <a:srgbClr val="FFFFFF">
              <a:alpha val="78000"/>
            </a:srgbClr>
          </a:solidFill>
          <a:ln w="9525">
            <a:solidFill>
              <a:srgbClr val="17324D">
                <a:alpha val="14000"/>
              </a:srgbClr>
            </a:solidFill>
            <a:prstDash val="solid"/>
          </a:ln>
          <a:effectLst>
            <a:outerShdw sx="100000" sy="100000" kx="0" ky="0" algn="bl" rotWithShape="0" blurRad="114300" dist="28575" dir="10800000">
              <a:srgbClr val="00000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8654" y="1984177"/>
            <a:ext cx="285743" cy="285750"/>
          </a:xfrm>
          <a:prstGeom prst="ellipse">
            <a:avLst/>
          </a:prstGeom>
          <a:solidFill>
            <a:srgbClr val="E8F0F4"/>
          </a:solidFill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8654" y="2374702"/>
            <a:ext cx="1406391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8654" y="2685157"/>
            <a:ext cx="1406391" cy="5679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Restate the bug and</a:t>
            </a:r>
            <a:endParaRPr lang="en-US" sz="1050" dirty="0"/>
          </a:p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what counts as</a:t>
            </a:r>
            <a:endParaRPr lang="en-US" sz="1050" dirty="0"/>
          </a:p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511263" y="1812727"/>
            <a:ext cx="1692282" cy="2694087"/>
          </a:xfrm>
          <a:prstGeom prst="roundRect">
            <a:avLst>
              <a:gd name="adj" fmla="val 4866"/>
            </a:avLst>
          </a:prstGeom>
          <a:solidFill>
            <a:srgbClr val="FFFFFF">
              <a:alpha val="78000"/>
            </a:srgbClr>
          </a:solidFill>
          <a:ln w="9525">
            <a:solidFill>
              <a:srgbClr val="17324D">
                <a:alpha val="14000"/>
              </a:srgbClr>
            </a:solidFill>
            <a:prstDash val="solid"/>
          </a:ln>
          <a:effectLst>
            <a:outerShdw sx="100000" sy="100000" kx="0" ky="0" algn="bl" rotWithShape="0" blurRad="114300" dist="28575" dir="10800000">
              <a:srgbClr val="000000">
                <a:alpha val="5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654134" y="1984177"/>
            <a:ext cx="285743" cy="285750"/>
          </a:xfrm>
          <a:prstGeom prst="ellipse">
            <a:avLst/>
          </a:prstGeom>
          <a:solidFill>
            <a:srgbClr val="E8F0F4"/>
          </a:solidFill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654134" y="2374702"/>
            <a:ext cx="1406539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654134" y="2685157"/>
            <a:ext cx="1406539" cy="5679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enrollment logic,</a:t>
            </a:r>
            <a:endParaRPr lang="en-US" sz="1050" dirty="0"/>
          </a:p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related tests, and</a:t>
            </a:r>
            <a:endParaRPr lang="en-US" sz="1050" dirty="0"/>
          </a:p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rules.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36892" y="1812727"/>
            <a:ext cx="1692282" cy="2694087"/>
          </a:xfrm>
          <a:prstGeom prst="roundRect">
            <a:avLst>
              <a:gd name="adj" fmla="val 4866"/>
            </a:avLst>
          </a:prstGeom>
          <a:solidFill>
            <a:srgbClr val="FFFFFF">
              <a:alpha val="78000"/>
            </a:srgbClr>
          </a:solidFill>
          <a:ln w="9525">
            <a:solidFill>
              <a:srgbClr val="17324D">
                <a:alpha val="14000"/>
              </a:srgbClr>
            </a:solidFill>
            <a:prstDash val="solid"/>
          </a:ln>
          <a:effectLst>
            <a:outerShdw sx="100000" sy="100000" kx="0" ky="0" algn="bl" rotWithShape="0" blurRad="114300" dist="28575" dir="10800000">
              <a:srgbClr val="000000">
                <a:alpha val="5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479763" y="1984177"/>
            <a:ext cx="285743" cy="285750"/>
          </a:xfrm>
          <a:prstGeom prst="ellipse">
            <a:avLst/>
          </a:prstGeom>
          <a:solidFill>
            <a:srgbClr val="E8F0F4"/>
          </a:solidFill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479763" y="2374702"/>
            <a:ext cx="1406539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479763" y="2685157"/>
            <a:ext cx="1406539" cy="5679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smallest</a:t>
            </a:r>
            <a:endParaRPr lang="en-US" sz="1050" dirty="0"/>
          </a:p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change before</a:t>
            </a:r>
            <a:endParaRPr lang="en-US" sz="1050" dirty="0"/>
          </a:p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editing.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62521" y="1812727"/>
            <a:ext cx="1692133" cy="2694087"/>
          </a:xfrm>
          <a:prstGeom prst="roundRect">
            <a:avLst>
              <a:gd name="adj" fmla="val 4867"/>
            </a:avLst>
          </a:prstGeom>
          <a:solidFill>
            <a:srgbClr val="FFFFFF">
              <a:alpha val="78000"/>
            </a:srgbClr>
          </a:solidFill>
          <a:ln w="9525">
            <a:solidFill>
              <a:srgbClr val="17324D">
                <a:alpha val="14000"/>
              </a:srgbClr>
            </a:solidFill>
            <a:prstDash val="solid"/>
          </a:ln>
          <a:effectLst>
            <a:outerShdw sx="100000" sy="100000" kx="0" ky="0" algn="bl" rotWithShape="0" blurRad="114300" dist="28575" dir="10800000">
              <a:srgbClr val="000000">
                <a:alpha val="5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305392" y="1984177"/>
            <a:ext cx="285743" cy="285750"/>
          </a:xfrm>
          <a:prstGeom prst="ellipse">
            <a:avLst/>
          </a:prstGeom>
          <a:solidFill>
            <a:srgbClr val="E8F0F4"/>
          </a:solidFill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305392" y="2374702"/>
            <a:ext cx="1406391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305392" y="2685157"/>
            <a:ext cx="1406391" cy="75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 duplicate</a:t>
            </a:r>
            <a:endParaRPr lang="en-US" sz="1050" dirty="0"/>
          </a:p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enrollment at the</a:t>
            </a:r>
            <a:endParaRPr lang="en-US" sz="1050" dirty="0"/>
          </a:p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appropriate application</a:t>
            </a:r>
            <a:endParaRPr lang="en-US" sz="1050" dirty="0"/>
          </a:p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data boundary.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305392" y="3547170"/>
            <a:ext cx="1406391" cy="807244"/>
          </a:xfrm>
          <a:prstGeom prst="roundRect">
            <a:avLst>
              <a:gd name="adj" fmla="val 5900"/>
            </a:avLst>
          </a:prstGeom>
          <a:solidFill>
            <a:srgbClr val="E5A84B">
              <a:alpha val="13000"/>
            </a:srgbClr>
          </a:solidFill>
          <a:ln/>
        </p:spPr>
        <p:txBody>
          <a:bodyPr wrap="none" lIns="95250" tIns="104775" rIns="104775" bIns="9525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614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check</a:t>
            </a: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614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records before</a:t>
            </a: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614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a new</a:t>
            </a: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614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enrollment.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305392" y="3547170"/>
            <a:ext cx="0" cy="807244"/>
          </a:xfrm>
          <a:prstGeom prst="line">
            <a:avLst/>
          </a:prstGeom>
          <a:noFill/>
          <a:ln w="28575">
            <a:solidFill>
              <a:srgbClr val="E5A84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88001" y="1812727"/>
            <a:ext cx="1692282" cy="2694087"/>
          </a:xfrm>
          <a:prstGeom prst="roundRect">
            <a:avLst>
              <a:gd name="adj" fmla="val 4866"/>
            </a:avLst>
          </a:prstGeom>
          <a:solidFill>
            <a:srgbClr val="FFF9EF"/>
          </a:solidFill>
          <a:ln w="9525">
            <a:solidFill>
              <a:srgbClr val="E5A84B">
                <a:alpha val="65000"/>
              </a:srgbClr>
            </a:solidFill>
            <a:prstDash val="solid"/>
          </a:ln>
          <a:effectLst>
            <a:outerShdw sx="100000" sy="100000" kx="0" ky="0" algn="bl" rotWithShape="0" blurRad="114300" dist="28575" dir="10800000">
              <a:srgbClr val="000000">
                <a:alpha val="5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130873" y="1984177"/>
            <a:ext cx="285743" cy="285750"/>
          </a:xfrm>
          <a:prstGeom prst="ellipse">
            <a:avLst/>
          </a:prstGeom>
          <a:solidFill>
            <a:srgbClr val="E5A84B"/>
          </a:solidFill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130873" y="2374702"/>
            <a:ext cx="1406539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130873" y="2685157"/>
            <a:ext cx="1406539" cy="75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 regression test;</a:t>
            </a:r>
            <a:endParaRPr lang="en-US" sz="1050" dirty="0"/>
          </a:p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focused tests, then</a:t>
            </a:r>
            <a:endParaRPr lang="en-US" sz="1050" dirty="0"/>
          </a:p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broader checks as</a:t>
            </a:r>
            <a:endParaRPr lang="en-US" sz="1050" dirty="0"/>
          </a:p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appropriate.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9813630" y="1812727"/>
            <a:ext cx="1692282" cy="2694087"/>
          </a:xfrm>
          <a:prstGeom prst="roundRect">
            <a:avLst>
              <a:gd name="adj" fmla="val 4866"/>
            </a:avLst>
          </a:prstGeom>
          <a:solidFill>
            <a:srgbClr val="FFFFFF">
              <a:alpha val="78000"/>
            </a:srgbClr>
          </a:solidFill>
          <a:ln w="9525">
            <a:solidFill>
              <a:srgbClr val="17324D">
                <a:alpha val="14000"/>
              </a:srgbClr>
            </a:solidFill>
            <a:prstDash val="solid"/>
          </a:ln>
          <a:effectLst>
            <a:outerShdw sx="100000" sy="100000" kx="0" ky="0" algn="bl" rotWithShape="0" blurRad="114300" dist="28575" dir="10800000">
              <a:srgbClr val="000000">
                <a:alpha val="5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9956501" y="1984177"/>
            <a:ext cx="285743" cy="285750"/>
          </a:xfrm>
          <a:prstGeom prst="ellipse">
            <a:avLst/>
          </a:prstGeom>
          <a:solidFill>
            <a:srgbClr val="E8F0F4"/>
          </a:solidFill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956501" y="2374702"/>
            <a:ext cx="1406539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9956501" y="2685157"/>
            <a:ext cx="1406539" cy="75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Summarize the</a:t>
            </a:r>
            <a:endParaRPr lang="en-US" sz="1050" dirty="0"/>
          </a:p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change, checks run,</a:t>
            </a:r>
            <a:endParaRPr lang="en-US" sz="1050" dirty="0"/>
          </a:p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remaining</a:t>
            </a:r>
            <a:endParaRPr lang="en-US" sz="1050" dirty="0"/>
          </a:p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uncertainty.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85783" y="4716363"/>
            <a:ext cx="10820129" cy="652909"/>
          </a:xfrm>
          <a:prstGeom prst="roundRect">
            <a:avLst>
              <a:gd name="adj" fmla="val 32690"/>
            </a:avLst>
          </a:prstGeom>
          <a:solidFill>
            <a:srgbClr val="FFF8E9"/>
          </a:solidFill>
          <a:ln w="9525">
            <a:solidFill>
              <a:srgbClr val="E5A8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85803" y="4871293"/>
            <a:ext cx="342891" cy="342900"/>
          </a:xfrm>
          <a:prstGeom prst="ellipse">
            <a:avLst/>
          </a:prstGeom>
          <a:noFill/>
          <a:ln w="19050">
            <a:solidFill>
              <a:srgbClr val="E5A84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7B59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1381090" y="4859238"/>
            <a:ext cx="43892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381090" y="5059263"/>
            <a:ext cx="4389278" cy="167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the proposed diff before merging; confirm the change and test evidence.</a:t>
            </a:r>
            <a:endParaRPr lang="en-US" sz="975" dirty="0"/>
          </a:p>
        </p:txBody>
      </p:sp>
      <p:sp>
        <p:nvSpPr>
          <p:cNvPr id="38" name="Text 36"/>
          <p:cNvSpPr/>
          <p:nvPr/>
        </p:nvSpPr>
        <p:spPr>
          <a:xfrm>
            <a:off x="10029425" y="4899868"/>
            <a:ext cx="1276467" cy="285750"/>
          </a:xfrm>
          <a:prstGeom prst="roundRect">
            <a:avLst>
              <a:gd name="adj" fmla="val 16666"/>
            </a:avLst>
          </a:prstGeom>
          <a:solidFill>
            <a:srgbClr val="17324D"/>
          </a:solidFill>
          <a:ln/>
        </p:spPr>
        <p:txBody>
          <a:bodyPr wrap="none" lIns="76200" tIns="114300" rIns="114300" bIns="76200" rtlCol="0" anchor="t"/>
          <a:lstStyle/>
          <a:p>
            <a:pPr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→ MERGE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11277318" y="247650"/>
            <a:ext cx="228594" cy="228600"/>
          </a:xfrm>
          <a:prstGeom prst="roundRect">
            <a:avLst>
              <a:gd name="adj" fmla="val 200005"/>
            </a:avLst>
          </a:prstGeom>
          <a:noFill/>
          <a:ln w="9525">
            <a:solidFill>
              <a:srgbClr val="2F6B8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201120" y="6524625"/>
            <a:ext cx="3047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25"/>
              </a:lnSpc>
              <a:buNone/>
            </a:pPr>
            <a:r>
              <a:rPr lang="en-US" sz="825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783" y="566738"/>
            <a:ext cx="323842" cy="28575"/>
          </a:xfrm>
          <a:prstGeom prst="ellipse">
            <a:avLst/>
          </a:prstGeom>
          <a:solidFill>
            <a:srgbClr val="E5A84B"/>
          </a:solidFill>
          <a:ln/>
        </p:spPr>
      </p:sp>
      <p:sp>
        <p:nvSpPr>
          <p:cNvPr id="3" name="Text 1"/>
          <p:cNvSpPr/>
          <p:nvPr/>
        </p:nvSpPr>
        <p:spPr>
          <a:xfrm>
            <a:off x="1123922" y="518220"/>
            <a:ext cx="1553727" cy="12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90"/>
              </a:lnSpc>
              <a:buNone/>
            </a:pPr>
            <a:r>
              <a:rPr lang="en-US" sz="825" b="1" spc="116" kern="0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ENGINEERING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685783" y="876300"/>
            <a:ext cx="10820129" cy="362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6"/>
              </a:lnSpc>
              <a:buNone/>
            </a:pPr>
            <a:r>
              <a:rPr lang="en-US" sz="2550" b="1" spc="-64" kern="0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the basic loop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685783" y="1410444"/>
            <a:ext cx="4048024" cy="1883866"/>
          </a:xfrm>
          <a:prstGeom prst="roundRect">
            <a:avLst>
              <a:gd name="adj" fmla="val 3927"/>
            </a:avLst>
          </a:prstGeom>
          <a:solidFill>
            <a:srgbClr val="FFFFFF">
              <a:alpha val="78000"/>
            </a:srgbClr>
          </a:solidFill>
          <a:ln/>
          <a:effectLst>
            <a:outerShdw sx="100000" sy="100000" kx="0" ky="0" algn="bl" rotWithShape="0" blurRad="114300" dist="28575" dir="10800000">
              <a:srgbClr val="000000">
                <a:alpha val="5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783" y="1410444"/>
            <a:ext cx="4048024" cy="0"/>
          </a:xfrm>
          <a:prstGeom prst="line">
            <a:avLst/>
          </a:prstGeom>
          <a:noFill/>
          <a:ln w="9525">
            <a:solidFill>
              <a:srgbClr val="17324D">
                <a:alpha val="1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33807" y="1410444"/>
            <a:ext cx="0" cy="1883866"/>
          </a:xfrm>
          <a:prstGeom prst="line">
            <a:avLst/>
          </a:prstGeom>
          <a:noFill/>
          <a:ln w="9525">
            <a:solidFill>
              <a:srgbClr val="17324D">
                <a:alpha val="1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783" y="3294311"/>
            <a:ext cx="4048024" cy="0"/>
          </a:xfrm>
          <a:prstGeom prst="line">
            <a:avLst/>
          </a:prstGeom>
          <a:noFill/>
          <a:ln w="9525">
            <a:solidFill>
              <a:srgbClr val="17324D">
                <a:alpha val="1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783" y="1410444"/>
            <a:ext cx="0" cy="1883866"/>
          </a:xfrm>
          <a:prstGeom prst="line">
            <a:avLst/>
          </a:prstGeom>
          <a:noFill/>
          <a:ln w="38100">
            <a:solidFill>
              <a:srgbClr val="2F6B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78" y="2048470"/>
            <a:ext cx="3695608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Isolation &amp; recovery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76278" y="2288381"/>
            <a:ext cx="3695608" cy="367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1449"/>
              </a:lnSpc>
              <a:buNone/>
            </a:pPr>
            <a:r>
              <a:rPr lang="en-US" sz="105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in a disposable branch or workspace, with a clear</a:t>
            </a:r>
            <a:endParaRPr lang="en-US" sz="1050" dirty="0"/>
          </a:p>
          <a:p>
            <a:pPr indent="0" marL="0">
              <a:lnSpc>
                <a:spcPts val="1449"/>
              </a:lnSpc>
              <a:buNone/>
            </a:pPr>
            <a:r>
              <a:rPr lang="en-US" sz="105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rollback path.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7889" y="1410444"/>
            <a:ext cx="4048024" cy="1883866"/>
          </a:xfrm>
          <a:prstGeom prst="roundRect">
            <a:avLst>
              <a:gd name="adj" fmla="val 3927"/>
            </a:avLst>
          </a:prstGeom>
          <a:solidFill>
            <a:srgbClr val="FFFFFF">
              <a:alpha val="78000"/>
            </a:srgbClr>
          </a:solidFill>
          <a:ln/>
          <a:effectLst>
            <a:outerShdw sx="100000" sy="100000" kx="0" ky="0" algn="bl" rotWithShape="0" blurRad="114300" dist="28575" dir="10800000">
              <a:srgbClr val="000000">
                <a:alpha val="5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57889" y="1410444"/>
            <a:ext cx="4048024" cy="0"/>
          </a:xfrm>
          <a:prstGeom prst="line">
            <a:avLst/>
          </a:prstGeom>
          <a:noFill/>
          <a:ln w="9525">
            <a:solidFill>
              <a:srgbClr val="17324D">
                <a:alpha val="14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505912" y="1410444"/>
            <a:ext cx="0" cy="1883866"/>
          </a:xfrm>
          <a:prstGeom prst="line">
            <a:avLst/>
          </a:prstGeom>
          <a:noFill/>
          <a:ln w="9525">
            <a:solidFill>
              <a:srgbClr val="17324D">
                <a:alpha val="14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57889" y="3294311"/>
            <a:ext cx="4048024" cy="0"/>
          </a:xfrm>
          <a:prstGeom prst="line">
            <a:avLst/>
          </a:prstGeom>
          <a:noFill/>
          <a:ln w="9525">
            <a:solidFill>
              <a:srgbClr val="17324D">
                <a:alpha val="14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57889" y="1410444"/>
            <a:ext cx="0" cy="1883866"/>
          </a:xfrm>
          <a:prstGeom prst="line">
            <a:avLst/>
          </a:prstGeom>
          <a:noFill/>
          <a:ln w="38100">
            <a:solidFill>
              <a:srgbClr val="2F6B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48384" y="2048470"/>
            <a:ext cx="3695608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checkpoints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648384" y="2288381"/>
            <a:ext cx="3695608" cy="367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1449"/>
              </a:lnSpc>
              <a:buNone/>
            </a:pPr>
            <a:r>
              <a:rPr lang="en-US" sz="105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the task, plan, changed files, checks completed, and</a:t>
            </a:r>
            <a:endParaRPr lang="en-US" sz="1050" dirty="0"/>
          </a:p>
          <a:p>
            <a:pPr indent="0" marL="0">
              <a:lnSpc>
                <a:spcPts val="1449"/>
              </a:lnSpc>
              <a:buNone/>
            </a:pPr>
            <a:r>
              <a:rPr lang="en-US" sz="105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questions.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85783" y="3408611"/>
            <a:ext cx="4048024" cy="1884015"/>
          </a:xfrm>
          <a:prstGeom prst="roundRect">
            <a:avLst>
              <a:gd name="adj" fmla="val 3926"/>
            </a:avLst>
          </a:prstGeom>
          <a:solidFill>
            <a:srgbClr val="FFFFFF">
              <a:alpha val="78000"/>
            </a:srgbClr>
          </a:solidFill>
          <a:ln/>
          <a:effectLst>
            <a:outerShdw sx="100000" sy="100000" kx="0" ky="0" algn="bl" rotWithShape="0" blurRad="114300" dist="28575" dir="10800000">
              <a:srgbClr val="000000">
                <a:alpha val="5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5783" y="3408611"/>
            <a:ext cx="4048024" cy="0"/>
          </a:xfrm>
          <a:prstGeom prst="line">
            <a:avLst/>
          </a:prstGeom>
          <a:noFill/>
          <a:ln w="9525">
            <a:solidFill>
              <a:srgbClr val="17324D">
                <a:alpha val="1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3807" y="3408611"/>
            <a:ext cx="0" cy="1884015"/>
          </a:xfrm>
          <a:prstGeom prst="line">
            <a:avLst/>
          </a:prstGeom>
          <a:noFill/>
          <a:ln w="9525">
            <a:solidFill>
              <a:srgbClr val="17324D">
                <a:alpha val="14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783" y="5292626"/>
            <a:ext cx="4048024" cy="0"/>
          </a:xfrm>
          <a:prstGeom prst="line">
            <a:avLst/>
          </a:prstGeom>
          <a:noFill/>
          <a:ln w="9525">
            <a:solidFill>
              <a:srgbClr val="17324D">
                <a:alpha val="14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783" y="3408611"/>
            <a:ext cx="0" cy="1884015"/>
          </a:xfrm>
          <a:prstGeom prst="line">
            <a:avLst/>
          </a:prstGeom>
          <a:noFill/>
          <a:ln w="38100">
            <a:solidFill>
              <a:srgbClr val="2F6B8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6278" y="4046637"/>
            <a:ext cx="3695608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 autonomy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76278" y="4286548"/>
            <a:ext cx="3695608" cy="367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1449"/>
              </a:lnSpc>
              <a:buNone/>
            </a:pPr>
            <a:r>
              <a:rPr lang="en-US" sz="105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limits on tool calls, time, and repair attempts; pause for</a:t>
            </a:r>
            <a:endParaRPr lang="en-US" sz="1050" dirty="0"/>
          </a:p>
          <a:p>
            <a:pPr indent="0" marL="0">
              <a:lnSpc>
                <a:spcPts val="1449"/>
              </a:lnSpc>
              <a:buNone/>
            </a:pPr>
            <a:r>
              <a:rPr lang="en-US" sz="105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if progress stalls.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457889" y="3408611"/>
            <a:ext cx="4048024" cy="1884015"/>
          </a:xfrm>
          <a:prstGeom prst="roundRect">
            <a:avLst>
              <a:gd name="adj" fmla="val 3926"/>
            </a:avLst>
          </a:prstGeom>
          <a:solidFill>
            <a:srgbClr val="FFFFFF">
              <a:alpha val="78000"/>
            </a:srgbClr>
          </a:solidFill>
          <a:ln/>
          <a:effectLst>
            <a:outerShdw sx="100000" sy="100000" kx="0" ky="0" algn="bl" rotWithShape="0" blurRad="114300" dist="28575" dir="10800000">
              <a:srgbClr val="000000">
                <a:alpha val="5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457889" y="3408611"/>
            <a:ext cx="4048024" cy="0"/>
          </a:xfrm>
          <a:prstGeom prst="line">
            <a:avLst/>
          </a:prstGeom>
          <a:noFill/>
          <a:ln w="9525">
            <a:solidFill>
              <a:srgbClr val="17324D">
                <a:alpha val="14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505912" y="3408611"/>
            <a:ext cx="0" cy="1884015"/>
          </a:xfrm>
          <a:prstGeom prst="line">
            <a:avLst/>
          </a:prstGeom>
          <a:noFill/>
          <a:ln w="9525">
            <a:solidFill>
              <a:srgbClr val="17324D">
                <a:alpha val="14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57889" y="5292626"/>
            <a:ext cx="4048024" cy="0"/>
          </a:xfrm>
          <a:prstGeom prst="line">
            <a:avLst/>
          </a:prstGeom>
          <a:noFill/>
          <a:ln w="9525">
            <a:solidFill>
              <a:srgbClr val="17324D">
                <a:alpha val="14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457889" y="3408611"/>
            <a:ext cx="0" cy="1884015"/>
          </a:xfrm>
          <a:prstGeom prst="line">
            <a:avLst/>
          </a:prstGeom>
          <a:noFill/>
          <a:ln w="38100">
            <a:solidFill>
              <a:srgbClr val="2F6B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8384" y="4046637"/>
            <a:ext cx="3695608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648384" y="4286548"/>
            <a:ext cx="3695608" cy="367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1449"/>
              </a:lnSpc>
              <a:buNone/>
            </a:pPr>
            <a:r>
              <a:rPr lang="en-US" sz="105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representative tasks and edge cases; success on one</a:t>
            </a:r>
            <a:endParaRPr lang="en-US" sz="1050" dirty="0"/>
          </a:p>
          <a:p>
            <a:pPr indent="0" marL="0">
              <a:lnSpc>
                <a:spcPts val="1449"/>
              </a:lnSpc>
              <a:buNone/>
            </a:pPr>
            <a:r>
              <a:rPr lang="en-US" sz="105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is not enough.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905252" y="3408611"/>
            <a:ext cx="2381190" cy="1884015"/>
          </a:xfrm>
          <a:prstGeom prst="roundRect">
            <a:avLst>
              <a:gd name="adj" fmla="val 3926"/>
            </a:avLst>
          </a:prstGeom>
          <a:solidFill>
            <a:srgbClr val="FFFFFF">
              <a:alpha val="78000"/>
            </a:srgbClr>
          </a:solidFill>
          <a:ln/>
          <a:effectLst>
            <a:outerShdw sx="100000" sy="100000" kx="0" ky="0" algn="bl" rotWithShape="0" blurRad="114300" dist="28575" dir="10800000">
              <a:srgbClr val="000000">
                <a:alpha val="5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905252" y="3408611"/>
            <a:ext cx="2381190" cy="0"/>
          </a:xfrm>
          <a:prstGeom prst="line">
            <a:avLst/>
          </a:prstGeom>
          <a:noFill/>
          <a:ln w="9525">
            <a:solidFill>
              <a:srgbClr val="17324D">
                <a:alpha val="14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286443" y="3408611"/>
            <a:ext cx="0" cy="1884015"/>
          </a:xfrm>
          <a:prstGeom prst="line">
            <a:avLst/>
          </a:prstGeom>
          <a:noFill/>
          <a:ln w="9525">
            <a:solidFill>
              <a:srgbClr val="17324D">
                <a:alpha val="14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05252" y="5292626"/>
            <a:ext cx="2381190" cy="0"/>
          </a:xfrm>
          <a:prstGeom prst="line">
            <a:avLst/>
          </a:prstGeom>
          <a:noFill/>
          <a:ln w="9525">
            <a:solidFill>
              <a:srgbClr val="17324D">
                <a:alpha val="14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905252" y="3408611"/>
            <a:ext cx="0" cy="1884015"/>
          </a:xfrm>
          <a:prstGeom prst="line">
            <a:avLst/>
          </a:prstGeom>
          <a:noFill/>
          <a:ln w="38100">
            <a:solidFill>
              <a:srgbClr val="2F6B8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95748" y="4046637"/>
            <a:ext cx="2028774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Traceability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095748" y="4286548"/>
            <a:ext cx="2028774" cy="367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1449"/>
              </a:lnSpc>
              <a:buNone/>
            </a:pPr>
            <a:r>
              <a:rPr lang="en-US" sz="105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diff, test results, and key</a:t>
            </a:r>
            <a:endParaRPr lang="en-US" sz="1050" dirty="0"/>
          </a:p>
          <a:p>
            <a:pPr indent="0" marL="0">
              <a:lnSpc>
                <a:spcPts val="1449"/>
              </a:lnSpc>
              <a:buNone/>
            </a:pPr>
            <a:r>
              <a:rPr lang="en-US" sz="105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actions for review.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905252" y="1943844"/>
            <a:ext cx="2381190" cy="817066"/>
          </a:xfrm>
          <a:prstGeom prst="roundRect">
            <a:avLst>
              <a:gd name="adj" fmla="val 26093"/>
            </a:avLst>
          </a:prstGeom>
          <a:solidFill>
            <a:srgbClr val="FFFFFF"/>
          </a:solidFill>
          <a:ln w="19050">
            <a:solidFill>
              <a:srgbClr val="E5A84B"/>
            </a:solidFill>
            <a:prstDash val="solid"/>
          </a:ln>
          <a:effectLst>
            <a:outerShdw sx="100000" sy="100000" kx="0" ky="0" algn="bl" rotWithShape="0" blurRad="133350" dist="38100" dir="10800000">
              <a:srgbClr val="000000">
                <a:alpha val="5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43104" y="2077194"/>
            <a:ext cx="1305488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Reliable change</a:t>
            </a:r>
            <a:endParaRPr lang="en-US" sz="1350" dirty="0"/>
          </a:p>
        </p:txBody>
      </p:sp>
      <p:sp>
        <p:nvSpPr>
          <p:cNvPr id="42" name="Text 40"/>
          <p:cNvSpPr/>
          <p:nvPr/>
        </p:nvSpPr>
        <p:spPr>
          <a:xfrm>
            <a:off x="5038599" y="2330500"/>
            <a:ext cx="2114497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Controls work together to support a safe</a:t>
            </a:r>
            <a:endParaRPr lang="en-US" sz="900" dirty="0"/>
          </a:p>
          <a:p>
            <a:pPr algn="ct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85783" y="5464076"/>
            <a:ext cx="10820129" cy="879574"/>
          </a:xfrm>
          <a:prstGeom prst="roundRect">
            <a:avLst>
              <a:gd name="adj" fmla="val 18013"/>
            </a:avLst>
          </a:prstGeom>
          <a:solidFill>
            <a:srgbClr val="17324D"/>
          </a:solidFill>
          <a:ln/>
        </p:spPr>
      </p:sp>
      <p:sp>
        <p:nvSpPr>
          <p:cNvPr id="44" name="Text 42"/>
          <p:cNvSpPr/>
          <p:nvPr/>
        </p:nvSpPr>
        <p:spPr>
          <a:xfrm>
            <a:off x="838179" y="5587901"/>
            <a:ext cx="2781677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70"/>
              </a:lnSpc>
              <a:buNone/>
            </a:pPr>
            <a:r>
              <a:rPr lang="en-US" sz="975" b="1" spc="59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CASE-STUDY EDGE CASES TO EVALUATE</a:t>
            </a:r>
            <a:endParaRPr lang="en-US" sz="975" dirty="0"/>
          </a:p>
        </p:txBody>
      </p:sp>
      <p:sp>
        <p:nvSpPr>
          <p:cNvPr id="45" name="Shape 43"/>
          <p:cNvSpPr/>
          <p:nvPr/>
        </p:nvSpPr>
        <p:spPr>
          <a:xfrm>
            <a:off x="3715104" y="5652641"/>
            <a:ext cx="7638413" cy="19050"/>
          </a:xfrm>
          <a:prstGeom prst="rect">
            <a:avLst/>
          </a:prstGeom>
          <a:solidFill>
            <a:srgbClr val="E5A84B">
              <a:alpha val="90000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838179" y="5822156"/>
            <a:ext cx="200020" cy="200025"/>
          </a:xfrm>
          <a:prstGeom prst="ellipse">
            <a:avLst/>
          </a:prstGeom>
          <a:solidFill>
            <a:srgbClr val="E5A84B"/>
          </a:solidFill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825"/>
              </a:lnSpc>
              <a:buNone/>
            </a:pPr>
            <a:r>
              <a:rPr lang="en-US" sz="825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25" dirty="0"/>
          </a:p>
        </p:txBody>
      </p:sp>
      <p:sp>
        <p:nvSpPr>
          <p:cNvPr id="47" name="Text 45"/>
          <p:cNvSpPr/>
          <p:nvPr/>
        </p:nvSpPr>
        <p:spPr>
          <a:xfrm>
            <a:off x="1114397" y="5838825"/>
            <a:ext cx="1927276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Simultaneous duplicate requests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387641" y="5822156"/>
            <a:ext cx="200020" cy="200025"/>
          </a:xfrm>
          <a:prstGeom prst="ellipse">
            <a:avLst/>
          </a:prstGeom>
          <a:solidFill>
            <a:srgbClr val="E5A84B"/>
          </a:solidFill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825"/>
              </a:lnSpc>
              <a:buNone/>
            </a:pPr>
            <a:r>
              <a:rPr lang="en-US" sz="825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25" dirty="0"/>
          </a:p>
        </p:txBody>
      </p:sp>
      <p:sp>
        <p:nvSpPr>
          <p:cNvPr id="49" name="Text 47"/>
          <p:cNvSpPr/>
          <p:nvPr/>
        </p:nvSpPr>
        <p:spPr>
          <a:xfrm>
            <a:off x="4663859" y="5838825"/>
            <a:ext cx="1519497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duplicate records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937252" y="5822156"/>
            <a:ext cx="200020" cy="200025"/>
          </a:xfrm>
          <a:prstGeom prst="ellipse">
            <a:avLst/>
          </a:prstGeom>
          <a:solidFill>
            <a:srgbClr val="E5A84B"/>
          </a:solidFill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825"/>
              </a:lnSpc>
              <a:buNone/>
            </a:pPr>
            <a:r>
              <a:rPr lang="en-US" sz="825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25" dirty="0"/>
          </a:p>
        </p:txBody>
      </p:sp>
      <p:sp>
        <p:nvSpPr>
          <p:cNvPr id="51" name="Text 49"/>
          <p:cNvSpPr/>
          <p:nvPr/>
        </p:nvSpPr>
        <p:spPr>
          <a:xfrm>
            <a:off x="8213470" y="5838825"/>
            <a:ext cx="2038448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failure during enrollment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838179" y="6098381"/>
            <a:ext cx="10515337" cy="1309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FFFFFF">
                    <a:alpha val="7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checks performance across conditions; traces must follow privacy and credential-handling rules.</a:t>
            </a:r>
            <a:endParaRPr lang="en-US" sz="825" dirty="0"/>
          </a:p>
        </p:txBody>
      </p:sp>
      <p:sp>
        <p:nvSpPr>
          <p:cNvPr id="53" name="Shape 51"/>
          <p:cNvSpPr/>
          <p:nvPr/>
        </p:nvSpPr>
        <p:spPr>
          <a:xfrm>
            <a:off x="11277318" y="247650"/>
            <a:ext cx="228594" cy="228600"/>
          </a:xfrm>
          <a:prstGeom prst="roundRect">
            <a:avLst>
              <a:gd name="adj" fmla="val 200005"/>
            </a:avLst>
          </a:prstGeom>
          <a:noFill/>
          <a:ln w="9525">
            <a:solidFill>
              <a:srgbClr val="2F6B8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1201120" y="6524625"/>
            <a:ext cx="3047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25"/>
              </a:lnSpc>
              <a:buNone/>
            </a:pPr>
            <a:r>
              <a:rPr lang="en-US" sz="825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783" y="566738"/>
            <a:ext cx="323842" cy="28575"/>
          </a:xfrm>
          <a:prstGeom prst="ellipse">
            <a:avLst/>
          </a:prstGeom>
          <a:solidFill>
            <a:srgbClr val="E5A84B"/>
          </a:solidFill>
          <a:ln/>
        </p:spPr>
      </p:sp>
      <p:sp>
        <p:nvSpPr>
          <p:cNvPr id="3" name="Text 1"/>
          <p:cNvSpPr/>
          <p:nvPr/>
        </p:nvSpPr>
        <p:spPr>
          <a:xfrm>
            <a:off x="1123922" y="518220"/>
            <a:ext cx="1553727" cy="12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90"/>
              </a:lnSpc>
              <a:buNone/>
            </a:pPr>
            <a:r>
              <a:rPr lang="en-US" sz="825" b="1" spc="116" kern="0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ENGINEERING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685783" y="876300"/>
            <a:ext cx="10820129" cy="362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56"/>
              </a:lnSpc>
              <a:buNone/>
            </a:pPr>
            <a:r>
              <a:rPr lang="en-US" sz="2550" b="1" spc="-64" kern="0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reliable agent workflow is designed, not assumed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685783" y="1429494"/>
            <a:ext cx="6760497" cy="3307556"/>
          </a:xfrm>
          <a:prstGeom prst="roundRect">
            <a:avLst>
              <a:gd name="adj" fmla="val 1274"/>
            </a:avLst>
          </a:prstGeom>
          <a:solidFill>
            <a:srgbClr val="FFFFFF">
              <a:alpha val="78000"/>
            </a:srgbClr>
          </a:solidFill>
          <a:ln w="9525">
            <a:solidFill>
              <a:srgbClr val="17324D">
                <a:alpha val="14000"/>
              </a:srgbClr>
            </a:solidFill>
            <a:prstDash val="solid"/>
          </a:ln>
          <a:effectLst>
            <a:outerShdw sx="100000" sy="100000" kx="0" ky="0" algn="bl" rotWithShape="0" blurRad="114300" dist="28575" dir="10800000">
              <a:srgbClr val="00000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42951" y="1648569"/>
            <a:ext cx="624616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Practical checklist</a:t>
            </a:r>
            <a:endParaRPr lang="en-US" sz="1275" dirty="0"/>
          </a:p>
        </p:txBody>
      </p:sp>
      <p:sp>
        <p:nvSpPr>
          <p:cNvPr id="7" name="Text 5"/>
          <p:cNvSpPr/>
          <p:nvPr/>
        </p:nvSpPr>
        <p:spPr>
          <a:xfrm>
            <a:off x="942951" y="2003375"/>
            <a:ext cx="723882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781130" y="2003375"/>
            <a:ext cx="5407981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task and observable completion conditions.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42951" y="2323356"/>
            <a:ext cx="723882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781130" y="2323356"/>
            <a:ext cx="5407981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relevant context, not unlimited context.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42951" y="2643336"/>
            <a:ext cx="723882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781130" y="2643336"/>
            <a:ext cx="5407981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and permissions to the task’s risk.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42951" y="2963317"/>
            <a:ext cx="723882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781130" y="2963317"/>
            <a:ext cx="5407981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changes with layered checks and human review where needed.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42951" y="3283297"/>
            <a:ext cx="723882" cy="617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</a:t>
            </a:r>
            <a:endParaRPr lang="en-US" sz="1200" dirty="0"/>
          </a:p>
          <a:p>
            <a:pPr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</a:t>
            </a:r>
            <a:endParaRPr lang="en-US" sz="1200" dirty="0"/>
          </a:p>
          <a:p>
            <a:pPr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2F6B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781130" y="3283297"/>
            <a:ext cx="5407981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72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traces, failures, and repeatable evaluations.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74875" y="1429494"/>
            <a:ext cx="3831038" cy="3307556"/>
          </a:xfrm>
          <a:prstGeom prst="roundRect">
            <a:avLst>
              <a:gd name="adj" fmla="val 1274"/>
            </a:avLst>
          </a:prstGeom>
          <a:solidFill>
            <a:srgbClr val="FFFFFF">
              <a:alpha val="78000"/>
            </a:srgbClr>
          </a:solidFill>
          <a:ln w="9525">
            <a:solidFill>
              <a:srgbClr val="17324D">
                <a:alpha val="14000"/>
              </a:srgbClr>
            </a:solidFill>
            <a:prstDash val="solid"/>
          </a:ln>
          <a:effectLst>
            <a:outerShdw sx="100000" sy="100000" kx="0" ky="0" algn="bl" rotWithShape="0" blurRad="114300" dist="28575" dir="10800000">
              <a:srgbClr val="000000">
                <a:alpha val="5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874895" y="1648569"/>
            <a:ext cx="3430998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iterative harness</a:t>
            </a:r>
            <a:endParaRPr lang="en-US" sz="1275" dirty="0"/>
          </a:p>
        </p:txBody>
      </p:sp>
      <p:sp>
        <p:nvSpPr>
          <p:cNvPr id="19" name="Text 17"/>
          <p:cNvSpPr/>
          <p:nvPr/>
        </p:nvSpPr>
        <p:spPr>
          <a:xfrm>
            <a:off x="7874895" y="2041475"/>
            <a:ext cx="3430998" cy="376238"/>
          </a:xfrm>
          <a:prstGeom prst="roundRect">
            <a:avLst>
              <a:gd name="adj" fmla="val 17721"/>
            </a:avLst>
          </a:prstGeom>
          <a:solidFill>
            <a:srgbClr val="F4F8FA"/>
          </a:solidFill>
          <a:ln w="9525">
            <a:solidFill>
              <a:srgbClr val="2F6B8A">
                <a:alpha val="24000"/>
              </a:srgbClr>
            </a:solidFill>
            <a:prstDash val="solid"/>
          </a:ln>
        </p:spPr>
        <p:txBody>
          <a:bodyPr wrap="square" lIns="95250" tIns="133350" rIns="133350" bIns="9525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74895" y="2503438"/>
            <a:ext cx="34309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E5A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874895" y="2741563"/>
            <a:ext cx="3430998" cy="376238"/>
          </a:xfrm>
          <a:prstGeom prst="roundRect">
            <a:avLst>
              <a:gd name="adj" fmla="val 17721"/>
            </a:avLst>
          </a:prstGeom>
          <a:solidFill>
            <a:srgbClr val="F4F8FA"/>
          </a:solidFill>
          <a:ln w="9525">
            <a:solidFill>
              <a:srgbClr val="2F6B8A">
                <a:alpha val="24000"/>
              </a:srgbClr>
            </a:solidFill>
            <a:prstDash val="solid"/>
          </a:ln>
        </p:spPr>
        <p:txBody>
          <a:bodyPr wrap="square" lIns="95250" tIns="133350" rIns="133350" bIns="9525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874895" y="3203525"/>
            <a:ext cx="34309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E5A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874895" y="3441650"/>
            <a:ext cx="3430998" cy="376238"/>
          </a:xfrm>
          <a:prstGeom prst="roundRect">
            <a:avLst>
              <a:gd name="adj" fmla="val 17721"/>
            </a:avLst>
          </a:prstGeom>
          <a:solidFill>
            <a:srgbClr val="F4F8FA"/>
          </a:solidFill>
          <a:ln w="9525">
            <a:solidFill>
              <a:srgbClr val="2F6B8A">
                <a:alpha val="24000"/>
              </a:srgbClr>
            </a:solidFill>
            <a:prstDash val="solid"/>
          </a:ln>
        </p:spPr>
        <p:txBody>
          <a:bodyPr wrap="square" lIns="95250" tIns="133350" rIns="133350" bIns="9525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874895" y="3903613"/>
            <a:ext cx="34309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E5A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874895" y="4141738"/>
            <a:ext cx="3430998" cy="376238"/>
          </a:xfrm>
          <a:prstGeom prst="roundRect">
            <a:avLst>
              <a:gd name="adj" fmla="val 17721"/>
            </a:avLst>
          </a:prstGeom>
          <a:solidFill>
            <a:srgbClr val="F4F8FA"/>
          </a:solidFill>
          <a:ln w="9525">
            <a:solidFill>
              <a:srgbClr val="2F6B8A">
                <a:alpha val="24000"/>
              </a:srgbClr>
            </a:solidFill>
            <a:prstDash val="solid"/>
          </a:ln>
        </p:spPr>
        <p:txBody>
          <a:bodyPr wrap="square" lIns="95250" tIns="133350" rIns="133350" bIns="9525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b="1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85783" y="4927550"/>
            <a:ext cx="10820129" cy="558105"/>
          </a:xfrm>
          <a:prstGeom prst="roundRect">
            <a:avLst>
              <a:gd name="adj" fmla="val 44739"/>
            </a:avLst>
          </a:prstGeom>
          <a:solidFill>
            <a:srgbClr val="17324D"/>
          </a:solidFill>
          <a:ln/>
        </p:spPr>
      </p:sp>
      <p:sp>
        <p:nvSpPr>
          <p:cNvPr id="27" name="Text 25"/>
          <p:cNvSpPr/>
          <p:nvPr/>
        </p:nvSpPr>
        <p:spPr>
          <a:xfrm>
            <a:off x="3509875" y="5099000"/>
            <a:ext cx="541095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95"/>
              </a:lnSpc>
              <a:buNone/>
            </a:pPr>
            <a:r>
              <a:rPr lang="en-US" sz="1425" b="1" dirty="0">
                <a:solidFill>
                  <a:srgbClr val="F2C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harness makes its work bounded, testable, and reviewable.</a:t>
            </a:r>
            <a:endParaRPr lang="en-US" sz="1425" dirty="0"/>
          </a:p>
        </p:txBody>
      </p:sp>
      <p:sp>
        <p:nvSpPr>
          <p:cNvPr id="28" name="Shape 26"/>
          <p:cNvSpPr/>
          <p:nvPr/>
        </p:nvSpPr>
        <p:spPr>
          <a:xfrm>
            <a:off x="11277318" y="247650"/>
            <a:ext cx="228594" cy="228600"/>
          </a:xfrm>
          <a:prstGeom prst="roundRect">
            <a:avLst>
              <a:gd name="adj" fmla="val 200005"/>
            </a:avLst>
          </a:prstGeom>
          <a:noFill/>
          <a:ln w="9525">
            <a:solidFill>
              <a:srgbClr val="2F6B8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201120" y="6524625"/>
            <a:ext cx="3047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25"/>
              </a:lnSpc>
              <a:buNone/>
            </a:pPr>
            <a:r>
              <a:rPr lang="en-US" sz="825" dirty="0">
                <a:solidFill>
                  <a:srgbClr val="173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Generated Presentation</dc:title>
  <dc:subject>PptxGenJS Presentation</dc:subject>
  <dc:creator>PPT Maker</dc:creator>
  <cp:lastModifiedBy>PPT Maker</cp:lastModifiedBy>
  <cp:revision>1</cp:revision>
  <dcterms:created xsi:type="dcterms:W3CDTF">2026-10-17T08:58:29Z</dcterms:created>
  <dcterms:modified xsi:type="dcterms:W3CDTF">2026-10-17T08:58:29Z</dcterms:modified>
</cp:coreProperties>
</file>