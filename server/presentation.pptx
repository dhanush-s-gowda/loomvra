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00044" y="457200"/>
            <a:ext cx="2391608" cy="1428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AGRITECH INNOVATION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371566" y="1944588"/>
            <a:ext cx="5239958" cy="12433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8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SkyHarvest Agri-Drones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1371566" y="3416498"/>
            <a:ext cx="819130" cy="5715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5" name="Text 3"/>
          <p:cNvSpPr/>
          <p:nvPr/>
        </p:nvSpPr>
        <p:spPr>
          <a:xfrm>
            <a:off x="1371566" y="3702248"/>
            <a:ext cx="5239958" cy="6170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405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Affordable aerial solutions for modern farming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477182" y="4662190"/>
            <a:ext cx="1514586" cy="190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4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Dhanush S Gowda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724131" y="4944963"/>
            <a:ext cx="1543160" cy="190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4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Agritech VC Funds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58484" y="2281238"/>
            <a:ext cx="3714657" cy="25717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85783" y="6362700"/>
            <a:ext cx="10820129" cy="266700"/>
          </a:xfrm>
          <a:prstGeom prst="rect">
            <a:avLst/>
          </a:prstGeom>
          <a:noFill/>
          <a:ln/>
        </p:spPr>
      </p:sp>
      <p:sp>
        <p:nvSpPr>
          <p:cNvPr id="10" name="Shape 7"/>
          <p:cNvSpPr/>
          <p:nvPr/>
        </p:nvSpPr>
        <p:spPr>
          <a:xfrm>
            <a:off x="685783" y="6600825"/>
            <a:ext cx="10820129" cy="28575"/>
          </a:xfrm>
          <a:prstGeom prst="rect">
            <a:avLst/>
          </a:prstGeom>
          <a:solidFill>
            <a:srgbClr val="4CAF5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783" y="476250"/>
            <a:ext cx="1238219" cy="1428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783" y="714375"/>
            <a:ext cx="2349640" cy="432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783" y="1279773"/>
            <a:ext cx="533387" cy="47625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783" y="1613148"/>
            <a:ext cx="5229094" cy="4749552"/>
          </a:xfrm>
          <a:prstGeom prst="roundRect">
            <a:avLst>
              <a:gd name="adj" fmla="val 463"/>
            </a:avLst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228600" dist="63500" dir="16200000">
              <a:srgbClr val="000000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783" y="1613148"/>
            <a:ext cx="57149" cy="4749552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7" name="Text 5"/>
          <p:cNvSpPr/>
          <p:nvPr/>
        </p:nvSpPr>
        <p:spPr>
          <a:xfrm>
            <a:off x="971526" y="1822698"/>
            <a:ext cx="4714757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8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Large-Scale Farming is Inefficient and Risky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971526" y="2584698"/>
            <a:ext cx="4714757" cy="627459"/>
          </a:xfrm>
          <a:prstGeom prst="rect">
            <a:avLst/>
          </a:prstGeom>
          <a:noFill/>
          <a:ln/>
        </p:spPr>
      </p:sp>
      <p:sp>
        <p:nvSpPr>
          <p:cNvPr id="9" name="Shape 7"/>
          <p:cNvSpPr/>
          <p:nvPr/>
        </p:nvSpPr>
        <p:spPr>
          <a:xfrm>
            <a:off x="971526" y="3202632"/>
            <a:ext cx="4714757" cy="9525"/>
          </a:xfrm>
          <a:prstGeom prst="rect">
            <a:avLst/>
          </a:prstGeom>
          <a:solidFill>
            <a:srgbClr val="ECE5E5"/>
          </a:solidFill>
          <a:ln/>
        </p:spPr>
      </p:sp>
      <p:sp>
        <p:nvSpPr>
          <p:cNvPr id="10" name="Text 8"/>
          <p:cNvSpPr/>
          <p:nvPr/>
        </p:nvSpPr>
        <p:spPr>
          <a:xfrm>
            <a:off x="1333467" y="2689473"/>
            <a:ext cx="1013792" cy="180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Waste: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71526" y="3212157"/>
            <a:ext cx="4714757" cy="627459"/>
          </a:xfrm>
          <a:prstGeom prst="rect">
            <a:avLst/>
          </a:prstGeom>
          <a:noFill/>
          <a:ln/>
        </p:spPr>
      </p:sp>
      <p:sp>
        <p:nvSpPr>
          <p:cNvPr id="12" name="Shape 10"/>
          <p:cNvSpPr/>
          <p:nvPr/>
        </p:nvSpPr>
        <p:spPr>
          <a:xfrm>
            <a:off x="971526" y="3830092"/>
            <a:ext cx="4714757" cy="9525"/>
          </a:xfrm>
          <a:prstGeom prst="rect">
            <a:avLst/>
          </a:prstGeom>
          <a:solidFill>
            <a:srgbClr val="ECE5E5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467" y="3316932"/>
            <a:ext cx="1250720" cy="180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Intensive: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71526" y="3839617"/>
            <a:ext cx="4714757" cy="627459"/>
          </a:xfrm>
          <a:prstGeom prst="rect">
            <a:avLst/>
          </a:prstGeom>
          <a:noFill/>
          <a:ln/>
        </p:spPr>
      </p:sp>
      <p:sp>
        <p:nvSpPr>
          <p:cNvPr id="15" name="Shape 13"/>
          <p:cNvSpPr/>
          <p:nvPr/>
        </p:nvSpPr>
        <p:spPr>
          <a:xfrm>
            <a:off x="971526" y="4457551"/>
            <a:ext cx="4714757" cy="9525"/>
          </a:xfrm>
          <a:prstGeom prst="rect">
            <a:avLst/>
          </a:prstGeom>
          <a:solidFill>
            <a:srgbClr val="ECE5E5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467" y="3944392"/>
            <a:ext cx="989831" cy="180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Risk: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33467" y="4571851"/>
            <a:ext cx="908573" cy="180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Costs: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71526" y="5042743"/>
            <a:ext cx="4714757" cy="729555"/>
          </a:xfrm>
          <a:prstGeom prst="roundRect">
            <a:avLst>
              <a:gd name="adj" fmla="val 13091"/>
            </a:avLst>
          </a:prstGeom>
          <a:solidFill>
            <a:srgbClr val="FFF2F1"/>
          </a:solidFill>
          <a:ln/>
        </p:spPr>
      </p:sp>
      <p:sp>
        <p:nvSpPr>
          <p:cNvPr id="19" name="Text 17"/>
          <p:cNvSpPr/>
          <p:nvPr/>
        </p:nvSpPr>
        <p:spPr>
          <a:xfrm>
            <a:off x="1123922" y="5195143"/>
            <a:ext cx="876427" cy="190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8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result: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657809" y="1765548"/>
            <a:ext cx="4467113" cy="4444752"/>
          </a:xfrm>
          <a:prstGeom prst="roundRect">
            <a:avLst>
              <a:gd name="adj" fmla="val 617"/>
            </a:avLst>
          </a:prstGeom>
          <a:solidFill>
            <a:srgbClr val="4B4B4B"/>
          </a:solidFill>
          <a:ln/>
          <a:effectLst>
            <a:outerShdw sx="100000" sy="100000" kx="0" ky="0" algn="bl" rotWithShape="0" blurRad="254000" dist="88900" dir="16200000">
              <a:srgbClr val="000000">
                <a:alpha val="50000"/>
              </a:srgbClr>
            </a:outerShdw>
          </a:effectLst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57809" y="1765548"/>
            <a:ext cx="4467113" cy="4444752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886403" y="5851475"/>
            <a:ext cx="2426731" cy="1492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D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water. More labor. More risk.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1156324" y="6400800"/>
            <a:ext cx="349589" cy="1333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470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05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85783" y="6362700"/>
            <a:ext cx="10820129" cy="266700"/>
          </a:xfrm>
          <a:prstGeom prst="rect">
            <a:avLst/>
          </a:prstGeom>
          <a:noFill/>
          <a:ln/>
        </p:spPr>
      </p:sp>
      <p:sp>
        <p:nvSpPr>
          <p:cNvPr id="25" name="Shape 22"/>
          <p:cNvSpPr/>
          <p:nvPr/>
        </p:nvSpPr>
        <p:spPr>
          <a:xfrm>
            <a:off x="685783" y="6600825"/>
            <a:ext cx="10820129" cy="28575"/>
          </a:xfrm>
          <a:prstGeom prst="rect">
            <a:avLst/>
          </a:prstGeom>
          <a:solidFill>
            <a:srgbClr val="4CAF50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>
            <a:alphaModFix amt="92000"/>
          </a:blip>
          <a:srcRect l="0" r="0" t="0" b="0"/>
          <a:stretch/>
        </p:blipFill>
        <p:spPr>
          <a:xfrm>
            <a:off x="685783" y="6257925"/>
            <a:ext cx="495288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783" y="457200"/>
            <a:ext cx="10820129" cy="1428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SKYHARVEST AGRI-DRONE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783" y="695325"/>
            <a:ext cx="10820129" cy="432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783" y="1260723"/>
            <a:ext cx="533387" cy="47625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5" name="Text 3"/>
          <p:cNvSpPr/>
          <p:nvPr/>
        </p:nvSpPr>
        <p:spPr>
          <a:xfrm>
            <a:off x="685783" y="1594098"/>
            <a:ext cx="6475945" cy="2571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536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Lightweight, Affordable, and Efficient Drones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783" y="2022723"/>
            <a:ext cx="3152250" cy="733425"/>
          </a:xfrm>
          <a:prstGeom prst="roundRect">
            <a:avLst>
              <a:gd name="adj" fmla="val 19430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1B5E20"/>
            </a:solidFill>
            <a:prstDash val="solid"/>
          </a:ln>
          <a:effectLst>
            <a:outerShdw sx="100000" sy="100000" kx="0" ky="0" algn="bl" rotWithShape="0" blurRad="228600" dist="63500" dir="16200000">
              <a:srgbClr val="000000">
                <a:alpha val="5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6753" y="2203698"/>
            <a:ext cx="161921" cy="180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CA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3922" y="2213223"/>
            <a:ext cx="1365166" cy="1619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Lightweight Design: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009478" y="2022723"/>
            <a:ext cx="3152250" cy="733425"/>
          </a:xfrm>
          <a:prstGeom prst="roundRect">
            <a:avLst>
              <a:gd name="adj" fmla="val 19430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1B5E20"/>
            </a:solidFill>
            <a:prstDash val="solid"/>
          </a:ln>
          <a:effectLst>
            <a:outerShdw sx="100000" sy="100000" kx="0" ky="0" algn="bl" rotWithShape="0" blurRad="228600" dist="63500" dir="16200000">
              <a:srgbClr val="000000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190449" y="2203698"/>
            <a:ext cx="161921" cy="180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CA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47617" y="2213223"/>
            <a:ext cx="2254392" cy="1619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Efficient Irrigation &amp; Fertilization: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783" y="2889498"/>
            <a:ext cx="3152250" cy="733425"/>
          </a:xfrm>
          <a:prstGeom prst="roundRect">
            <a:avLst>
              <a:gd name="adj" fmla="val 19430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1B5E20"/>
            </a:solidFill>
            <a:prstDash val="solid"/>
          </a:ln>
          <a:effectLst>
            <a:outerShdw sx="100000" sy="100000" kx="0" ky="0" algn="bl" rotWithShape="0" blurRad="228600" dist="63500" dir="16200000">
              <a:srgbClr val="00000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6753" y="3070473"/>
            <a:ext cx="161921" cy="180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CA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23922" y="3079998"/>
            <a:ext cx="825827" cy="1619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First: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009478" y="2889498"/>
            <a:ext cx="3152250" cy="733425"/>
          </a:xfrm>
          <a:prstGeom prst="roundRect">
            <a:avLst>
              <a:gd name="adj" fmla="val 19430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1B5E20"/>
            </a:solidFill>
            <a:prstDash val="solid"/>
          </a:ln>
          <a:effectLst>
            <a:outerShdw sx="100000" sy="100000" kx="0" ky="0" algn="bl" rotWithShape="0" blurRad="228600" dist="63500" dir="16200000">
              <a:srgbClr val="000000">
                <a:alpha val="5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190449" y="3070473"/>
            <a:ext cx="161921" cy="180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CA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47617" y="3079998"/>
            <a:ext cx="1375733" cy="1619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App Control: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783" y="3794373"/>
            <a:ext cx="6475945" cy="638175"/>
          </a:xfrm>
          <a:prstGeom prst="roundRect">
            <a:avLst>
              <a:gd name="adj" fmla="val 25663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1B5E20"/>
            </a:solidFill>
            <a:prstDash val="solid"/>
          </a:ln>
          <a:effectLst>
            <a:outerShdw sx="100000" sy="100000" kx="0" ky="0" algn="bl" rotWithShape="0" blurRad="228600" dist="63500" dir="16200000">
              <a:srgbClr val="000000">
                <a:alpha val="5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6753" y="3927723"/>
            <a:ext cx="6114004" cy="152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6753" y="4156323"/>
            <a:ext cx="1987103" cy="1428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36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flight paths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930055" y="4156323"/>
            <a:ext cx="1987252" cy="1428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36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monitoring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93505" y="4156323"/>
            <a:ext cx="1987252" cy="1428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36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setup and operation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428421" y="1594098"/>
            <a:ext cx="4077342" cy="4768602"/>
          </a:xfrm>
          <a:prstGeom prst="roundRect">
            <a:avLst>
              <a:gd name="adj" fmla="val 629"/>
            </a:avLst>
          </a:prstGeom>
          <a:solidFill>
            <a:srgbClr val="FFFFFF"/>
          </a:solidFill>
          <a:ln w="12700">
            <a:solidFill>
              <a:srgbClr val="1B5E20"/>
            </a:solidFill>
            <a:prstDash val="solid"/>
          </a:ln>
          <a:effectLst>
            <a:outerShdw sx="100000" sy="100000" kx="0" ky="0" algn="bl" rotWithShape="0" blurRad="228600" dist="63500" dir="16200000">
              <a:srgbClr val="000000">
                <a:alpha val="50000"/>
              </a:srgbClr>
            </a:outerShdw>
          </a:effectLst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37946" y="1603623"/>
            <a:ext cx="4058293" cy="4749552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857229" y="6048375"/>
            <a:ext cx="10477238" cy="1428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agriculture, made simple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5783" y="6400800"/>
            <a:ext cx="779096" cy="1333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470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SKYHARVEST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156324" y="6400800"/>
            <a:ext cx="349589" cy="1333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470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05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685783" y="6362700"/>
            <a:ext cx="10820129" cy="266700"/>
          </a:xfrm>
          <a:prstGeom prst="rect">
            <a:avLst/>
          </a:prstGeom>
          <a:noFill/>
          <a:ln/>
        </p:spPr>
      </p:sp>
      <p:sp>
        <p:nvSpPr>
          <p:cNvPr id="29" name="Shape 26"/>
          <p:cNvSpPr/>
          <p:nvPr/>
        </p:nvSpPr>
        <p:spPr>
          <a:xfrm>
            <a:off x="685783" y="6600825"/>
            <a:ext cx="10820129" cy="28575"/>
          </a:xfrm>
          <a:prstGeom prst="rect">
            <a:avLst/>
          </a:prstGeom>
          <a:solidFill>
            <a:srgbClr val="4CAF50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>
            <a:alphaModFix amt="92000"/>
          </a:blip>
          <a:srcRect l="0" r="0" t="0" b="0"/>
          <a:stretch/>
        </p:blipFill>
        <p:spPr>
          <a:xfrm>
            <a:off x="685783" y="6257925"/>
            <a:ext cx="495288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783" y="457200"/>
            <a:ext cx="10820129" cy="1428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SKYHARVEST AGRI-DRONE PITCH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783" y="666750"/>
            <a:ext cx="10820129" cy="432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 &amp; Financials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783" y="1232148"/>
            <a:ext cx="533387" cy="47625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783" y="1565523"/>
            <a:ext cx="3479663" cy="4797177"/>
          </a:xfrm>
          <a:prstGeom prst="roundRect">
            <a:avLst>
              <a:gd name="adj" fmla="val 863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1B5E20"/>
            </a:solidFill>
            <a:prstDash val="solid"/>
          </a:ln>
          <a:effectLst>
            <a:outerShdw sx="100000" sy="100000" kx="0" ky="0" algn="bl" rotWithShape="0" blurRad="228600" dist="63500" dir="16200000">
              <a:srgbClr val="000000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5803" y="1913186"/>
            <a:ext cx="85723" cy="85725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066773" y="1765548"/>
            <a:ext cx="1339122" cy="2476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Growth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85803" y="2146548"/>
            <a:ext cx="1567270" cy="34290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lIns="95248" tIns="95248" rIns="95248" bIns="95248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453073" y="2146548"/>
            <a:ext cx="1512354" cy="34290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lIns="95248" tIns="95248" rIns="95248" bIns="95248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Sold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5803" y="2489448"/>
            <a:ext cx="1567270" cy="347663"/>
          </a:xfrm>
          <a:prstGeom prst="rect">
            <a:avLst/>
          </a:prstGeom>
          <a:noFill/>
          <a:ln/>
        </p:spPr>
        <p:txBody>
          <a:bodyPr wrap="square" lIns="95248" tIns="95248" rIns="95248" bIns="95248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53073" y="2489448"/>
            <a:ext cx="1512354" cy="347663"/>
          </a:xfrm>
          <a:prstGeom prst="rect">
            <a:avLst/>
          </a:prstGeom>
          <a:noFill/>
          <a:ln/>
        </p:spPr>
        <p:txBody>
          <a:bodyPr wrap="square" lIns="95248" tIns="95248" rIns="95248" bIns="95248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85803" y="2837111"/>
            <a:ext cx="3079623" cy="352425"/>
          </a:xfrm>
          <a:prstGeom prst="rect">
            <a:avLst/>
          </a:prstGeom>
          <a:solidFill>
            <a:srgbClr val="F0F6F0"/>
          </a:solidFill>
          <a:ln/>
        </p:spPr>
      </p:sp>
      <p:sp>
        <p:nvSpPr>
          <p:cNvPr id="13" name="Text 11"/>
          <p:cNvSpPr/>
          <p:nvPr/>
        </p:nvSpPr>
        <p:spPr>
          <a:xfrm>
            <a:off x="885803" y="2837111"/>
            <a:ext cx="1567270" cy="352425"/>
          </a:xfrm>
          <a:prstGeom prst="rect">
            <a:avLst/>
          </a:prstGeom>
          <a:noFill/>
          <a:ln/>
        </p:spPr>
        <p:txBody>
          <a:bodyPr wrap="square" lIns="95248" tIns="95248" rIns="95248" bIns="95248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53073" y="2837111"/>
            <a:ext cx="1512354" cy="352425"/>
          </a:xfrm>
          <a:prstGeom prst="rect">
            <a:avLst/>
          </a:prstGeom>
          <a:noFill/>
          <a:ln/>
        </p:spPr>
        <p:txBody>
          <a:bodyPr wrap="square" lIns="95248" tIns="95248" rIns="95248" bIns="95248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2,100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5803" y="3189536"/>
            <a:ext cx="1567270" cy="347663"/>
          </a:xfrm>
          <a:prstGeom prst="rect">
            <a:avLst/>
          </a:prstGeom>
          <a:noFill/>
          <a:ln/>
        </p:spPr>
        <p:txBody>
          <a:bodyPr wrap="square" lIns="95248" tIns="95248" rIns="95248" bIns="9524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(July)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53073" y="3189536"/>
            <a:ext cx="1512354" cy="347663"/>
          </a:xfrm>
          <a:prstGeom prst="rect">
            <a:avLst/>
          </a:prstGeom>
          <a:noFill/>
          <a:ln/>
        </p:spPr>
        <p:txBody>
          <a:bodyPr wrap="square" lIns="95248" tIns="95248" rIns="95248" bIns="9524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2,200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834410" y="6029325"/>
            <a:ext cx="266991" cy="152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55941" y="1565523"/>
            <a:ext cx="3758114" cy="4797177"/>
          </a:xfrm>
          <a:prstGeom prst="roundRect">
            <a:avLst>
              <a:gd name="adj" fmla="val 740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1B5E20"/>
            </a:solidFill>
            <a:prstDash val="solid"/>
          </a:ln>
          <a:effectLst>
            <a:outerShdw sx="100000" sy="100000" kx="0" ky="0" algn="bl" rotWithShape="0" blurRad="228600" dist="63500" dir="16200000">
              <a:srgbClr val="00000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55961" y="1913186"/>
            <a:ext cx="85723" cy="85725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0" name="Text 18"/>
          <p:cNvSpPr/>
          <p:nvPr/>
        </p:nvSpPr>
        <p:spPr>
          <a:xfrm>
            <a:off x="6448561" y="1832223"/>
            <a:ext cx="289166" cy="152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0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unit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55961" y="2146548"/>
            <a:ext cx="1658202" cy="34290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lIns="95248" tIns="95248" rIns="95248" bIns="95248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14163" y="2146548"/>
            <a:ext cx="1699872" cy="34290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lIns="95248" tIns="95248" rIns="95248" bIns="95248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(INR)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55961" y="2489448"/>
            <a:ext cx="1658202" cy="385763"/>
          </a:xfrm>
          <a:prstGeom prst="rect">
            <a:avLst/>
          </a:prstGeom>
          <a:noFill/>
          <a:ln/>
        </p:spPr>
        <p:txBody>
          <a:bodyPr wrap="square" lIns="95248" tIns="95248" rIns="95248" bIns="95248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14163" y="2489448"/>
            <a:ext cx="1699872" cy="385763"/>
          </a:xfrm>
          <a:prstGeom prst="rect">
            <a:avLst/>
          </a:prstGeom>
          <a:noFill/>
          <a:ln/>
        </p:spPr>
        <p:txBody>
          <a:bodyPr wrap="square" lIns="95248" tIns="95248" rIns="95248" bIns="95248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₹2,700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55961" y="2875211"/>
            <a:ext cx="3358074" cy="390525"/>
          </a:xfrm>
          <a:prstGeom prst="rect">
            <a:avLst/>
          </a:prstGeom>
          <a:solidFill>
            <a:srgbClr val="F0F6F0"/>
          </a:solidFill>
          <a:ln/>
        </p:spPr>
      </p:sp>
      <p:sp>
        <p:nvSpPr>
          <p:cNvPr id="26" name="Text 24"/>
          <p:cNvSpPr/>
          <p:nvPr/>
        </p:nvSpPr>
        <p:spPr>
          <a:xfrm>
            <a:off x="4555961" y="2875211"/>
            <a:ext cx="1658202" cy="390525"/>
          </a:xfrm>
          <a:prstGeom prst="rect">
            <a:avLst/>
          </a:prstGeom>
          <a:noFill/>
          <a:ln/>
        </p:spPr>
        <p:txBody>
          <a:bodyPr wrap="square" lIns="95248" tIns="95248" rIns="95248" bIns="95248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14163" y="2875211"/>
            <a:ext cx="1699872" cy="390525"/>
          </a:xfrm>
          <a:prstGeom prst="rect">
            <a:avLst/>
          </a:prstGeom>
          <a:noFill/>
          <a:ln/>
        </p:spPr>
        <p:txBody>
          <a:bodyPr wrap="square" lIns="95248" tIns="95248" rIns="95248" bIns="95248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₹1,300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55961" y="3265736"/>
            <a:ext cx="1658202" cy="390525"/>
          </a:xfrm>
          <a:prstGeom prst="rect">
            <a:avLst/>
          </a:prstGeom>
          <a:noFill/>
          <a:ln/>
        </p:spPr>
        <p:txBody>
          <a:bodyPr wrap="square" lIns="95248" tIns="95248" rIns="95248" bIns="95248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14163" y="3265736"/>
            <a:ext cx="1699872" cy="390525"/>
          </a:xfrm>
          <a:prstGeom prst="rect">
            <a:avLst/>
          </a:prstGeom>
          <a:noFill/>
          <a:ln/>
        </p:spPr>
        <p:txBody>
          <a:bodyPr wrap="square" lIns="95248" tIns="95248" rIns="95248" bIns="95248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₹500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55961" y="3656261"/>
            <a:ext cx="3358074" cy="390525"/>
          </a:xfrm>
          <a:prstGeom prst="rect">
            <a:avLst/>
          </a:prstGeom>
          <a:solidFill>
            <a:srgbClr val="F0F6F0"/>
          </a:solidFill>
          <a:ln/>
        </p:spPr>
      </p:sp>
      <p:sp>
        <p:nvSpPr>
          <p:cNvPr id="31" name="Text 29"/>
          <p:cNvSpPr/>
          <p:nvPr/>
        </p:nvSpPr>
        <p:spPr>
          <a:xfrm>
            <a:off x="4555961" y="3656261"/>
            <a:ext cx="1658202" cy="390525"/>
          </a:xfrm>
          <a:prstGeom prst="rect">
            <a:avLst/>
          </a:prstGeom>
          <a:noFill/>
          <a:ln/>
        </p:spPr>
        <p:txBody>
          <a:bodyPr wrap="square" lIns="95248" tIns="95248" rIns="95248" bIns="95248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14163" y="3656261"/>
            <a:ext cx="1699872" cy="390525"/>
          </a:xfrm>
          <a:prstGeom prst="rect">
            <a:avLst/>
          </a:prstGeom>
          <a:noFill/>
          <a:ln/>
        </p:spPr>
        <p:txBody>
          <a:bodyPr wrap="square" lIns="95248" tIns="95248" rIns="95248" bIns="95248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₹4,500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55961" y="4046786"/>
            <a:ext cx="1658202" cy="390525"/>
          </a:xfrm>
          <a:prstGeom prst="rect">
            <a:avLst/>
          </a:prstGeom>
          <a:noFill/>
          <a:ln/>
        </p:spPr>
        <p:txBody>
          <a:bodyPr wrap="square" lIns="95248" tIns="95248" rIns="95248" bIns="95248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Selling Price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214163" y="4046786"/>
            <a:ext cx="1699872" cy="390525"/>
          </a:xfrm>
          <a:prstGeom prst="rect">
            <a:avLst/>
          </a:prstGeom>
          <a:noFill/>
          <a:ln/>
        </p:spPr>
        <p:txBody>
          <a:bodyPr wrap="square" lIns="95248" tIns="95248" rIns="95248" bIns="95248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₹8,000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55961" y="4437311"/>
            <a:ext cx="3358074" cy="385763"/>
          </a:xfrm>
          <a:prstGeom prst="rect">
            <a:avLst/>
          </a:prstGeom>
          <a:solidFill>
            <a:srgbClr val="F0F6F0"/>
          </a:solidFill>
          <a:ln/>
        </p:spPr>
      </p:sp>
      <p:sp>
        <p:nvSpPr>
          <p:cNvPr id="36" name="Text 34"/>
          <p:cNvSpPr/>
          <p:nvPr/>
        </p:nvSpPr>
        <p:spPr>
          <a:xfrm>
            <a:off x="4555961" y="4437311"/>
            <a:ext cx="1658202" cy="385763"/>
          </a:xfrm>
          <a:prstGeom prst="rect">
            <a:avLst/>
          </a:prstGeom>
          <a:noFill/>
          <a:ln/>
        </p:spPr>
        <p:txBody>
          <a:bodyPr wrap="square" lIns="95248" tIns="95248" rIns="95248" bIns="9524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Margin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818837" y="4575423"/>
            <a:ext cx="502431" cy="1428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(43.75%)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304551" y="1565523"/>
            <a:ext cx="3201362" cy="4797177"/>
          </a:xfrm>
          <a:prstGeom prst="roundRect">
            <a:avLst>
              <a:gd name="adj" fmla="val 1020"/>
            </a:avLst>
          </a:prstGeom>
          <a:noFill/>
          <a:ln/>
          <a:effectLst>
            <a:outerShdw sx="100000" sy="100000" kx="0" ky="0" algn="bl" rotWithShape="0" blurRad="228600" dist="63500" dir="16200000">
              <a:srgbClr val="000000">
                <a:alpha val="5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8571244" y="2761506"/>
            <a:ext cx="2667975" cy="2762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900" dirty="0"/>
          </a:p>
        </p:txBody>
      </p:sp>
      <p:sp>
        <p:nvSpPr>
          <p:cNvPr id="40" name="Text 38"/>
          <p:cNvSpPr/>
          <p:nvPr/>
        </p:nvSpPr>
        <p:spPr>
          <a:xfrm>
            <a:off x="8571244" y="3266331"/>
            <a:ext cx="2667975" cy="1428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E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INVESTMENT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571244" y="3504456"/>
            <a:ext cx="2667975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 Crore</a:t>
            </a:r>
            <a:endParaRPr lang="en-US" sz="3200" dirty="0"/>
          </a:p>
        </p:txBody>
      </p:sp>
      <p:sp>
        <p:nvSpPr>
          <p:cNvPr id="42" name="Text 40"/>
          <p:cNvSpPr/>
          <p:nvPr/>
        </p:nvSpPr>
        <p:spPr>
          <a:xfrm>
            <a:off x="8571244" y="4018806"/>
            <a:ext cx="2667975" cy="2476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10% equity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8571244" y="4504581"/>
            <a:ext cx="2667975" cy="9525"/>
          </a:xfrm>
          <a:prstGeom prst="rect">
            <a:avLst/>
          </a:prstGeom>
          <a:solidFill>
            <a:srgbClr val="FFFFFF">
              <a:alpha val="28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8571244" y="4752231"/>
            <a:ext cx="2667975" cy="4143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E7F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Fueling production scale, market expansion, and safer large-scale farming.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85783" y="6400800"/>
            <a:ext cx="779096" cy="1333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470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SKYHARVEST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156324" y="6400800"/>
            <a:ext cx="349589" cy="1333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470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05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85783" y="6362700"/>
            <a:ext cx="10820129" cy="266700"/>
          </a:xfrm>
          <a:prstGeom prst="rect">
            <a:avLst/>
          </a:prstGeom>
          <a:noFill/>
          <a:ln/>
        </p:spPr>
      </p:sp>
      <p:sp>
        <p:nvSpPr>
          <p:cNvPr id="48" name="Shape 46"/>
          <p:cNvSpPr/>
          <p:nvPr/>
        </p:nvSpPr>
        <p:spPr>
          <a:xfrm>
            <a:off x="685783" y="6600825"/>
            <a:ext cx="10820129" cy="28575"/>
          </a:xfrm>
          <a:prstGeom prst="rect">
            <a:avLst/>
          </a:prstGeom>
          <a:solidFill>
            <a:srgbClr val="4CAF50"/>
          </a:solidFill>
          <a:ln/>
        </p:spPr>
      </p:sp>
      <p:pic>
        <p:nvPicPr>
          <p:cNvPr id="49" name="Image 0" descr="preencoded.png">    </p:cNvPr>
          <p:cNvPicPr>
            <a:picLocks noChangeAspect="1"/>
          </p:cNvPicPr>
          <p:nvPr/>
        </p:nvPicPr>
        <p:blipFill>
          <a:blip r:embed="rId1">
            <a:alphaModFix amt="92000"/>
          </a:blip>
          <a:srcRect l="0" r="0" t="0" b="0"/>
          <a:stretch/>
        </p:blipFill>
        <p:spPr>
          <a:xfrm>
            <a:off x="685783" y="6257925"/>
            <a:ext cx="495288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783" y="457200"/>
            <a:ext cx="10820129" cy="1428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PITCH · SEED INVESTMENT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783" y="695325"/>
            <a:ext cx="10820129" cy="432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Opportunity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783" y="1543050"/>
            <a:ext cx="5181470" cy="2699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314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SkyHarvest is scaling fast with proven demand.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783" y="1984474"/>
            <a:ext cx="5181470" cy="383381"/>
          </a:xfrm>
          <a:prstGeom prst="rect">
            <a:avLst/>
          </a:prstGeom>
          <a:noFill/>
          <a:ln/>
        </p:spPr>
      </p:sp>
      <p:sp>
        <p:nvSpPr>
          <p:cNvPr id="6" name="Shape 4"/>
          <p:cNvSpPr/>
          <p:nvPr/>
        </p:nvSpPr>
        <p:spPr>
          <a:xfrm>
            <a:off x="685783" y="2358330"/>
            <a:ext cx="5181470" cy="9525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7" name="Text 5"/>
          <p:cNvSpPr/>
          <p:nvPr/>
        </p:nvSpPr>
        <p:spPr>
          <a:xfrm>
            <a:off x="923902" y="2079724"/>
            <a:ext cx="1655374" cy="180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Sales Growth: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783" y="2367855"/>
            <a:ext cx="5181470" cy="383381"/>
          </a:xfrm>
          <a:prstGeom prst="rect">
            <a:avLst/>
          </a:prstGeom>
          <a:noFill/>
          <a:ln/>
        </p:spPr>
      </p:sp>
      <p:sp>
        <p:nvSpPr>
          <p:cNvPr id="9" name="Shape 7"/>
          <p:cNvSpPr/>
          <p:nvPr/>
        </p:nvSpPr>
        <p:spPr>
          <a:xfrm>
            <a:off x="685783" y="2741712"/>
            <a:ext cx="5181470" cy="9525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0" name="Text 8"/>
          <p:cNvSpPr/>
          <p:nvPr/>
        </p:nvSpPr>
        <p:spPr>
          <a:xfrm>
            <a:off x="923902" y="2463105"/>
            <a:ext cx="1304744" cy="180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Healthy Margins: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783" y="2751237"/>
            <a:ext cx="5181470" cy="383381"/>
          </a:xfrm>
          <a:prstGeom prst="rect">
            <a:avLst/>
          </a:prstGeom>
          <a:noFill/>
          <a:ln/>
        </p:spPr>
      </p:sp>
      <p:sp>
        <p:nvSpPr>
          <p:cNvPr id="12" name="Shape 10"/>
          <p:cNvSpPr/>
          <p:nvPr/>
        </p:nvSpPr>
        <p:spPr>
          <a:xfrm>
            <a:off x="685783" y="3125093"/>
            <a:ext cx="5181470" cy="9525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3" name="Text 11"/>
          <p:cNvSpPr/>
          <p:nvPr/>
        </p:nvSpPr>
        <p:spPr>
          <a:xfrm>
            <a:off x="923902" y="2846487"/>
            <a:ext cx="1223783" cy="180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Scalable Model: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783" y="3134618"/>
            <a:ext cx="5181470" cy="383381"/>
          </a:xfrm>
          <a:prstGeom prst="rect">
            <a:avLst/>
          </a:prstGeom>
          <a:noFill/>
          <a:ln/>
        </p:spPr>
      </p:sp>
      <p:sp>
        <p:nvSpPr>
          <p:cNvPr id="15" name="Shape 13"/>
          <p:cNvSpPr/>
          <p:nvPr/>
        </p:nvSpPr>
        <p:spPr>
          <a:xfrm>
            <a:off x="685783" y="3508474"/>
            <a:ext cx="5181470" cy="9525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6" name="Text 14"/>
          <p:cNvSpPr/>
          <p:nvPr/>
        </p:nvSpPr>
        <p:spPr>
          <a:xfrm>
            <a:off x="923902" y="3229868"/>
            <a:ext cx="1472915" cy="180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Experienced Team: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24442" y="1257300"/>
            <a:ext cx="5181470" cy="3234035"/>
          </a:xfrm>
          <a:prstGeom prst="roundRect">
            <a:avLst>
              <a:gd name="adj" fmla="val 14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0" dist="152400" dir="16200000">
              <a:srgbClr val="00000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24442" y="1257300"/>
            <a:ext cx="5181470" cy="5715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234" y="1581150"/>
            <a:ext cx="4571886" cy="152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0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29234" y="1828800"/>
            <a:ext cx="4571886" cy="4299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 Crore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932092" y="2334964"/>
            <a:ext cx="1094752" cy="2381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D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equity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629234" y="2792164"/>
            <a:ext cx="4571886" cy="190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38779" y="3068389"/>
            <a:ext cx="4362341" cy="2361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3443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production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38779" y="3304580"/>
            <a:ext cx="4362341" cy="2361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3443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marketing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838779" y="3540770"/>
            <a:ext cx="4362341" cy="2361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3443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 R&amp;D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629234" y="4005560"/>
            <a:ext cx="4571886" cy="219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us in revolutionizing agriculture.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1156324" y="6400800"/>
            <a:ext cx="349589" cy="1333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470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05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85783" y="6362700"/>
            <a:ext cx="10820129" cy="266700"/>
          </a:xfrm>
          <a:prstGeom prst="rect">
            <a:avLst/>
          </a:prstGeom>
          <a:noFill/>
          <a:ln/>
        </p:spPr>
      </p:sp>
      <p:sp>
        <p:nvSpPr>
          <p:cNvPr id="29" name="Shape 27"/>
          <p:cNvSpPr/>
          <p:nvPr/>
        </p:nvSpPr>
        <p:spPr>
          <a:xfrm>
            <a:off x="685783" y="6600825"/>
            <a:ext cx="10820129" cy="28575"/>
          </a:xfrm>
          <a:prstGeom prst="rect">
            <a:avLst/>
          </a:prstGeom>
          <a:solidFill>
            <a:srgbClr val="4CAF50"/>
          </a:solidFill>
          <a:ln/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>
            <a:alphaModFix amt="92000"/>
          </a:blip>
          <a:srcRect l="0" r="0" t="0" b="0"/>
          <a:stretch/>
        </p:blipFill>
        <p:spPr>
          <a:xfrm>
            <a:off x="685783" y="6257925"/>
            <a:ext cx="495288" cy="228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Generated Presentation</dc:title>
  <dc:subject>PptxGenJS Presentation</dc:subject>
  <dc:creator>PPT Maker</dc:creator>
  <cp:lastModifiedBy>PPT Maker</cp:lastModifiedBy>
  <cp:revision>1</cp:revision>
  <dcterms:created xsi:type="dcterms:W3CDTF">2026-08-11T17:58:49Z</dcterms:created>
  <dcterms:modified xsi:type="dcterms:W3CDTF">2026-08-11T17:58:49Z</dcterms:modified>
</cp:coreProperties>
</file>